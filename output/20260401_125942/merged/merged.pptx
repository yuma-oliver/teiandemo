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2" d="100"/>
          <a:sy n="102" d="100"/>
        </p:scale>
        <p:origin x="68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728120C-470A-E31A-D389-99E48E069E73}"/>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C71303F1-7533-34A1-1DBD-680E1BF8122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D2904AE9-9D40-04F0-1BF1-CFC39FB4A6FA}"/>
              </a:ext>
            </a:extLst>
          </p:cNvPr>
          <p:cNvSpPr>
            <a:spLocks noGrp="1"/>
          </p:cNvSpPr>
          <p:nvPr>
            <p:ph type="dt" sz="half" idx="10"/>
          </p:nvPr>
        </p:nvSpPr>
        <p:spPr/>
        <p:txBody>
          <a:bodyPr/>
          <a:lstStyle/>
          <a:p>
            <a:fld id="{0485C78C-F8C7-45AC-BE3F-36CD348896DC}" type="datetimeFigureOut">
              <a:rPr kumimoji="1" lang="ja-JP" altLang="en-US" smtClean="0"/>
              <a:t>2026/4/1</a:t>
            </a:fld>
            <a:endParaRPr kumimoji="1" lang="ja-JP" altLang="en-US"/>
          </a:p>
        </p:txBody>
      </p:sp>
      <p:sp>
        <p:nvSpPr>
          <p:cNvPr id="5" name="フッター プレースホルダー 4">
            <a:extLst>
              <a:ext uri="{FF2B5EF4-FFF2-40B4-BE49-F238E27FC236}">
                <a16:creationId xmlns:a16="http://schemas.microsoft.com/office/drawing/2014/main" id="{01C42521-1835-1A96-B1AB-505C6CA71CF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26588FC-BCBD-3CBD-8FD2-E42876F5C65B}"/>
              </a:ext>
            </a:extLst>
          </p:cNvPr>
          <p:cNvSpPr>
            <a:spLocks noGrp="1"/>
          </p:cNvSpPr>
          <p:nvPr>
            <p:ph type="sldNum" sz="quarter" idx="12"/>
          </p:nvPr>
        </p:nvSpPr>
        <p:spPr/>
        <p:txBody>
          <a:bodyPr/>
          <a:lstStyle/>
          <a:p>
            <a:fld id="{65F0439C-93C7-4F60-AE76-A4279AF4F0ED}" type="slidenum">
              <a:rPr kumimoji="1" lang="ja-JP" altLang="en-US" smtClean="0"/>
              <a:t>‹#›</a:t>
            </a:fld>
            <a:endParaRPr kumimoji="1" lang="ja-JP" altLang="en-US"/>
          </a:p>
        </p:txBody>
      </p:sp>
    </p:spTree>
    <p:extLst>
      <p:ext uri="{BB962C8B-B14F-4D97-AF65-F5344CB8AC3E}">
        <p14:creationId xmlns:p14="http://schemas.microsoft.com/office/powerpoint/2010/main" val="14511001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D9CB08E-EC9A-D9EE-60A6-1A6DE8BA702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EA0A277-0527-7ED9-59FD-3293066A83C6}"/>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06329B6-BB33-8D3D-B532-8BFDED56AF5D}"/>
              </a:ext>
            </a:extLst>
          </p:cNvPr>
          <p:cNvSpPr>
            <a:spLocks noGrp="1"/>
          </p:cNvSpPr>
          <p:nvPr>
            <p:ph type="dt" sz="half" idx="10"/>
          </p:nvPr>
        </p:nvSpPr>
        <p:spPr/>
        <p:txBody>
          <a:bodyPr/>
          <a:lstStyle/>
          <a:p>
            <a:fld id="{0485C78C-F8C7-45AC-BE3F-36CD348896DC}" type="datetimeFigureOut">
              <a:rPr kumimoji="1" lang="ja-JP" altLang="en-US" smtClean="0"/>
              <a:t>2026/4/1</a:t>
            </a:fld>
            <a:endParaRPr kumimoji="1" lang="ja-JP" altLang="en-US"/>
          </a:p>
        </p:txBody>
      </p:sp>
      <p:sp>
        <p:nvSpPr>
          <p:cNvPr id="5" name="フッター プレースホルダー 4">
            <a:extLst>
              <a:ext uri="{FF2B5EF4-FFF2-40B4-BE49-F238E27FC236}">
                <a16:creationId xmlns:a16="http://schemas.microsoft.com/office/drawing/2014/main" id="{5E424C19-E1E2-7330-C22A-3DB32436ABA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8E47DC2-2A1D-86B9-B0A3-6D3456CF0DF9}"/>
              </a:ext>
            </a:extLst>
          </p:cNvPr>
          <p:cNvSpPr>
            <a:spLocks noGrp="1"/>
          </p:cNvSpPr>
          <p:nvPr>
            <p:ph type="sldNum" sz="quarter" idx="12"/>
          </p:nvPr>
        </p:nvSpPr>
        <p:spPr/>
        <p:txBody>
          <a:bodyPr/>
          <a:lstStyle/>
          <a:p>
            <a:fld id="{65F0439C-93C7-4F60-AE76-A4279AF4F0ED}" type="slidenum">
              <a:rPr kumimoji="1" lang="ja-JP" altLang="en-US" smtClean="0"/>
              <a:t>‹#›</a:t>
            </a:fld>
            <a:endParaRPr kumimoji="1" lang="ja-JP" altLang="en-US"/>
          </a:p>
        </p:txBody>
      </p:sp>
    </p:spTree>
    <p:extLst>
      <p:ext uri="{BB962C8B-B14F-4D97-AF65-F5344CB8AC3E}">
        <p14:creationId xmlns:p14="http://schemas.microsoft.com/office/powerpoint/2010/main" val="39724946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61A0125-34D7-C4AC-56D4-EE40288FC382}"/>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C902456-30A1-580E-AC95-3CBD8971AA8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4B0F167A-7592-45E6-5373-982ED1AE84A8}"/>
              </a:ext>
            </a:extLst>
          </p:cNvPr>
          <p:cNvSpPr>
            <a:spLocks noGrp="1"/>
          </p:cNvSpPr>
          <p:nvPr>
            <p:ph type="dt" sz="half" idx="10"/>
          </p:nvPr>
        </p:nvSpPr>
        <p:spPr/>
        <p:txBody>
          <a:bodyPr/>
          <a:lstStyle/>
          <a:p>
            <a:fld id="{0485C78C-F8C7-45AC-BE3F-36CD348896DC}" type="datetimeFigureOut">
              <a:rPr kumimoji="1" lang="ja-JP" altLang="en-US" smtClean="0"/>
              <a:t>2026/4/1</a:t>
            </a:fld>
            <a:endParaRPr kumimoji="1" lang="ja-JP" altLang="en-US"/>
          </a:p>
        </p:txBody>
      </p:sp>
      <p:sp>
        <p:nvSpPr>
          <p:cNvPr id="5" name="フッター プレースホルダー 4">
            <a:extLst>
              <a:ext uri="{FF2B5EF4-FFF2-40B4-BE49-F238E27FC236}">
                <a16:creationId xmlns:a16="http://schemas.microsoft.com/office/drawing/2014/main" id="{5A9588D6-E475-CD9B-C129-C993DAB4BA4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AAB57D6-784B-69B3-A177-161970EAFEB5}"/>
              </a:ext>
            </a:extLst>
          </p:cNvPr>
          <p:cNvSpPr>
            <a:spLocks noGrp="1"/>
          </p:cNvSpPr>
          <p:nvPr>
            <p:ph type="sldNum" sz="quarter" idx="12"/>
          </p:nvPr>
        </p:nvSpPr>
        <p:spPr/>
        <p:txBody>
          <a:bodyPr/>
          <a:lstStyle/>
          <a:p>
            <a:fld id="{65F0439C-93C7-4F60-AE76-A4279AF4F0ED}" type="slidenum">
              <a:rPr kumimoji="1" lang="ja-JP" altLang="en-US" smtClean="0"/>
              <a:t>‹#›</a:t>
            </a:fld>
            <a:endParaRPr kumimoji="1" lang="ja-JP" altLang="en-US"/>
          </a:p>
        </p:txBody>
      </p:sp>
    </p:spTree>
    <p:extLst>
      <p:ext uri="{BB962C8B-B14F-4D97-AF65-F5344CB8AC3E}">
        <p14:creationId xmlns:p14="http://schemas.microsoft.com/office/powerpoint/2010/main" val="5356374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C844396-C439-66E4-055D-DCF84A235120}"/>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FAFEBAA-3814-D9A2-D516-1BC82261D0CA}"/>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27D6EDBC-E603-EB5D-08E9-52A980048705}"/>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04FAFAD5-EB74-03AE-17BA-178E3343411A}"/>
              </a:ext>
            </a:extLst>
          </p:cNvPr>
          <p:cNvSpPr>
            <a:spLocks noGrp="1"/>
          </p:cNvSpPr>
          <p:nvPr>
            <p:ph type="dt" sz="half" idx="10"/>
          </p:nvPr>
        </p:nvSpPr>
        <p:spPr/>
        <p:txBody>
          <a:bodyPr/>
          <a:lstStyle/>
          <a:p>
            <a:fld id="{0485C78C-F8C7-45AC-BE3F-36CD348896DC}" type="datetimeFigureOut">
              <a:rPr kumimoji="1" lang="ja-JP" altLang="en-US" smtClean="0"/>
              <a:t>2026/4/1</a:t>
            </a:fld>
            <a:endParaRPr kumimoji="1" lang="ja-JP" altLang="en-US"/>
          </a:p>
        </p:txBody>
      </p:sp>
      <p:sp>
        <p:nvSpPr>
          <p:cNvPr id="6" name="フッター プレースホルダー 5">
            <a:extLst>
              <a:ext uri="{FF2B5EF4-FFF2-40B4-BE49-F238E27FC236}">
                <a16:creationId xmlns:a16="http://schemas.microsoft.com/office/drawing/2014/main" id="{E9CFEA5A-61EA-6ABE-1A83-CA7EF3DA2A3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6E5A5FE6-286D-2DE2-4274-7D7FE49B095C}"/>
              </a:ext>
            </a:extLst>
          </p:cNvPr>
          <p:cNvSpPr>
            <a:spLocks noGrp="1"/>
          </p:cNvSpPr>
          <p:nvPr>
            <p:ph type="sldNum" sz="quarter" idx="12"/>
          </p:nvPr>
        </p:nvSpPr>
        <p:spPr/>
        <p:txBody>
          <a:bodyPr/>
          <a:lstStyle/>
          <a:p>
            <a:fld id="{65F0439C-93C7-4F60-AE76-A4279AF4F0ED}" type="slidenum">
              <a:rPr kumimoji="1" lang="ja-JP" altLang="en-US" smtClean="0"/>
              <a:t>‹#›</a:t>
            </a:fld>
            <a:endParaRPr kumimoji="1" lang="ja-JP" altLang="en-US"/>
          </a:p>
        </p:txBody>
      </p:sp>
    </p:spTree>
    <p:extLst>
      <p:ext uri="{BB962C8B-B14F-4D97-AF65-F5344CB8AC3E}">
        <p14:creationId xmlns:p14="http://schemas.microsoft.com/office/powerpoint/2010/main" val="19772936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A4B64FA-57CD-B418-82DA-8CE973DF08D7}"/>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B6B103A-EBA7-CEBD-8320-D26635DC527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6C255609-D842-ABC7-97D7-98AD2EFD286F}"/>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555FA995-6FB7-5451-1ADC-EC96950C768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F6AB7D3E-59B6-F0BD-C357-575652817225}"/>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E44EE9A3-7DBA-A8CD-B71E-148FE9DBBBF1}"/>
              </a:ext>
            </a:extLst>
          </p:cNvPr>
          <p:cNvSpPr>
            <a:spLocks noGrp="1"/>
          </p:cNvSpPr>
          <p:nvPr>
            <p:ph type="dt" sz="half" idx="10"/>
          </p:nvPr>
        </p:nvSpPr>
        <p:spPr/>
        <p:txBody>
          <a:bodyPr/>
          <a:lstStyle/>
          <a:p>
            <a:fld id="{0485C78C-F8C7-45AC-BE3F-36CD348896DC}" type="datetimeFigureOut">
              <a:rPr kumimoji="1" lang="ja-JP" altLang="en-US" smtClean="0"/>
              <a:t>2026/4/1</a:t>
            </a:fld>
            <a:endParaRPr kumimoji="1" lang="ja-JP" altLang="en-US"/>
          </a:p>
        </p:txBody>
      </p:sp>
      <p:sp>
        <p:nvSpPr>
          <p:cNvPr id="8" name="フッター プレースホルダー 7">
            <a:extLst>
              <a:ext uri="{FF2B5EF4-FFF2-40B4-BE49-F238E27FC236}">
                <a16:creationId xmlns:a16="http://schemas.microsoft.com/office/drawing/2014/main" id="{B6FD3551-51B7-541F-BE82-F215C5CF002D}"/>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69F43232-668E-42FC-C3AB-0E002AFE4D79}"/>
              </a:ext>
            </a:extLst>
          </p:cNvPr>
          <p:cNvSpPr>
            <a:spLocks noGrp="1"/>
          </p:cNvSpPr>
          <p:nvPr>
            <p:ph type="sldNum" sz="quarter" idx="12"/>
          </p:nvPr>
        </p:nvSpPr>
        <p:spPr/>
        <p:txBody>
          <a:bodyPr/>
          <a:lstStyle/>
          <a:p>
            <a:fld id="{65F0439C-93C7-4F60-AE76-A4279AF4F0ED}" type="slidenum">
              <a:rPr kumimoji="1" lang="ja-JP" altLang="en-US" smtClean="0"/>
              <a:t>‹#›</a:t>
            </a:fld>
            <a:endParaRPr kumimoji="1" lang="ja-JP" altLang="en-US"/>
          </a:p>
        </p:txBody>
      </p:sp>
    </p:spTree>
    <p:extLst>
      <p:ext uri="{BB962C8B-B14F-4D97-AF65-F5344CB8AC3E}">
        <p14:creationId xmlns:p14="http://schemas.microsoft.com/office/powerpoint/2010/main" val="28887162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898A9EC-10AB-B729-1B75-CF8DBB5BB26D}"/>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E6EA13B9-0003-88BF-AC98-B7CE90CE54D8}"/>
              </a:ext>
            </a:extLst>
          </p:cNvPr>
          <p:cNvSpPr>
            <a:spLocks noGrp="1"/>
          </p:cNvSpPr>
          <p:nvPr>
            <p:ph type="dt" sz="half" idx="10"/>
          </p:nvPr>
        </p:nvSpPr>
        <p:spPr/>
        <p:txBody>
          <a:bodyPr/>
          <a:lstStyle/>
          <a:p>
            <a:fld id="{0485C78C-F8C7-45AC-BE3F-36CD348896DC}" type="datetimeFigureOut">
              <a:rPr kumimoji="1" lang="ja-JP" altLang="en-US" smtClean="0"/>
              <a:t>2026/4/1</a:t>
            </a:fld>
            <a:endParaRPr kumimoji="1" lang="ja-JP" altLang="en-US"/>
          </a:p>
        </p:txBody>
      </p:sp>
      <p:sp>
        <p:nvSpPr>
          <p:cNvPr id="4" name="フッター プレースホルダー 3">
            <a:extLst>
              <a:ext uri="{FF2B5EF4-FFF2-40B4-BE49-F238E27FC236}">
                <a16:creationId xmlns:a16="http://schemas.microsoft.com/office/drawing/2014/main" id="{C3A637D6-8496-0E77-4644-12BBA009B11F}"/>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134128E9-5E68-3F12-B3D8-F9C0CD1D48D8}"/>
              </a:ext>
            </a:extLst>
          </p:cNvPr>
          <p:cNvSpPr>
            <a:spLocks noGrp="1"/>
          </p:cNvSpPr>
          <p:nvPr>
            <p:ph type="sldNum" sz="quarter" idx="12"/>
          </p:nvPr>
        </p:nvSpPr>
        <p:spPr/>
        <p:txBody>
          <a:bodyPr/>
          <a:lstStyle/>
          <a:p>
            <a:fld id="{65F0439C-93C7-4F60-AE76-A4279AF4F0ED}" type="slidenum">
              <a:rPr kumimoji="1" lang="ja-JP" altLang="en-US" smtClean="0"/>
              <a:t>‹#›</a:t>
            </a:fld>
            <a:endParaRPr kumimoji="1" lang="ja-JP" altLang="en-US"/>
          </a:p>
        </p:txBody>
      </p:sp>
    </p:spTree>
    <p:extLst>
      <p:ext uri="{BB962C8B-B14F-4D97-AF65-F5344CB8AC3E}">
        <p14:creationId xmlns:p14="http://schemas.microsoft.com/office/powerpoint/2010/main" val="19278372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5600CB4F-4B3D-C0ED-9AEF-B8220CA71784}"/>
              </a:ext>
            </a:extLst>
          </p:cNvPr>
          <p:cNvSpPr>
            <a:spLocks noGrp="1"/>
          </p:cNvSpPr>
          <p:nvPr>
            <p:ph type="dt" sz="half" idx="10"/>
          </p:nvPr>
        </p:nvSpPr>
        <p:spPr/>
        <p:txBody>
          <a:bodyPr/>
          <a:lstStyle/>
          <a:p>
            <a:fld id="{0485C78C-F8C7-45AC-BE3F-36CD348896DC}" type="datetimeFigureOut">
              <a:rPr kumimoji="1" lang="ja-JP" altLang="en-US" smtClean="0"/>
              <a:t>2026/4/1</a:t>
            </a:fld>
            <a:endParaRPr kumimoji="1" lang="ja-JP" altLang="en-US"/>
          </a:p>
        </p:txBody>
      </p:sp>
      <p:sp>
        <p:nvSpPr>
          <p:cNvPr id="3" name="フッター プレースホルダー 2">
            <a:extLst>
              <a:ext uri="{FF2B5EF4-FFF2-40B4-BE49-F238E27FC236}">
                <a16:creationId xmlns:a16="http://schemas.microsoft.com/office/drawing/2014/main" id="{DF4CBEB0-B90A-954C-5CCF-9BBA25E2774A}"/>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DDA7BD1E-DC39-93F1-728D-F5F14D32974B}"/>
              </a:ext>
            </a:extLst>
          </p:cNvPr>
          <p:cNvSpPr>
            <a:spLocks noGrp="1"/>
          </p:cNvSpPr>
          <p:nvPr>
            <p:ph type="sldNum" sz="quarter" idx="12"/>
          </p:nvPr>
        </p:nvSpPr>
        <p:spPr/>
        <p:txBody>
          <a:bodyPr/>
          <a:lstStyle/>
          <a:p>
            <a:fld id="{65F0439C-93C7-4F60-AE76-A4279AF4F0ED}" type="slidenum">
              <a:rPr kumimoji="1" lang="ja-JP" altLang="en-US" smtClean="0"/>
              <a:t>‹#›</a:t>
            </a:fld>
            <a:endParaRPr kumimoji="1" lang="ja-JP" altLang="en-US"/>
          </a:p>
        </p:txBody>
      </p:sp>
    </p:spTree>
    <p:extLst>
      <p:ext uri="{BB962C8B-B14F-4D97-AF65-F5344CB8AC3E}">
        <p14:creationId xmlns:p14="http://schemas.microsoft.com/office/powerpoint/2010/main" val="10619086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8DEE1E9-F03C-7BCD-8215-7D2F90ABAB32}"/>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CD54ACD-3B17-575B-9359-E3B1EB4324D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6412BF5D-58C1-EB8D-8719-FDBCCD1115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DEBF3B60-3EBA-1304-8CD2-053591722957}"/>
              </a:ext>
            </a:extLst>
          </p:cNvPr>
          <p:cNvSpPr>
            <a:spLocks noGrp="1"/>
          </p:cNvSpPr>
          <p:nvPr>
            <p:ph type="dt" sz="half" idx="10"/>
          </p:nvPr>
        </p:nvSpPr>
        <p:spPr/>
        <p:txBody>
          <a:bodyPr/>
          <a:lstStyle/>
          <a:p>
            <a:fld id="{0485C78C-F8C7-45AC-BE3F-36CD348896DC}" type="datetimeFigureOut">
              <a:rPr kumimoji="1" lang="ja-JP" altLang="en-US" smtClean="0"/>
              <a:t>2026/4/1</a:t>
            </a:fld>
            <a:endParaRPr kumimoji="1" lang="ja-JP" altLang="en-US"/>
          </a:p>
        </p:txBody>
      </p:sp>
      <p:sp>
        <p:nvSpPr>
          <p:cNvPr id="6" name="フッター プレースホルダー 5">
            <a:extLst>
              <a:ext uri="{FF2B5EF4-FFF2-40B4-BE49-F238E27FC236}">
                <a16:creationId xmlns:a16="http://schemas.microsoft.com/office/drawing/2014/main" id="{75290835-2908-DFC0-6BB3-A17972DDEE6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63ECFEB-9CCC-BAB2-D0A7-5D8CAA4D3E17}"/>
              </a:ext>
            </a:extLst>
          </p:cNvPr>
          <p:cNvSpPr>
            <a:spLocks noGrp="1"/>
          </p:cNvSpPr>
          <p:nvPr>
            <p:ph type="sldNum" sz="quarter" idx="12"/>
          </p:nvPr>
        </p:nvSpPr>
        <p:spPr/>
        <p:txBody>
          <a:bodyPr/>
          <a:lstStyle/>
          <a:p>
            <a:fld id="{65F0439C-93C7-4F60-AE76-A4279AF4F0ED}" type="slidenum">
              <a:rPr kumimoji="1" lang="ja-JP" altLang="en-US" smtClean="0"/>
              <a:t>‹#›</a:t>
            </a:fld>
            <a:endParaRPr kumimoji="1" lang="ja-JP" altLang="en-US"/>
          </a:p>
        </p:txBody>
      </p:sp>
    </p:spTree>
    <p:extLst>
      <p:ext uri="{BB962C8B-B14F-4D97-AF65-F5344CB8AC3E}">
        <p14:creationId xmlns:p14="http://schemas.microsoft.com/office/powerpoint/2010/main" val="5831752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C67A076-8C01-D98D-0696-9B2225957032}"/>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172C9D83-40B6-8230-7041-806D45D1224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AEB6CE85-8EF6-7E72-DE15-16E1BA39EB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5D1D3094-5CC1-54BA-741B-0DADDCD4C39B}"/>
              </a:ext>
            </a:extLst>
          </p:cNvPr>
          <p:cNvSpPr>
            <a:spLocks noGrp="1"/>
          </p:cNvSpPr>
          <p:nvPr>
            <p:ph type="dt" sz="half" idx="10"/>
          </p:nvPr>
        </p:nvSpPr>
        <p:spPr/>
        <p:txBody>
          <a:bodyPr/>
          <a:lstStyle/>
          <a:p>
            <a:fld id="{0485C78C-F8C7-45AC-BE3F-36CD348896DC}" type="datetimeFigureOut">
              <a:rPr kumimoji="1" lang="ja-JP" altLang="en-US" smtClean="0"/>
              <a:t>2026/4/1</a:t>
            </a:fld>
            <a:endParaRPr kumimoji="1" lang="ja-JP" altLang="en-US"/>
          </a:p>
        </p:txBody>
      </p:sp>
      <p:sp>
        <p:nvSpPr>
          <p:cNvPr id="6" name="フッター プレースホルダー 5">
            <a:extLst>
              <a:ext uri="{FF2B5EF4-FFF2-40B4-BE49-F238E27FC236}">
                <a16:creationId xmlns:a16="http://schemas.microsoft.com/office/drawing/2014/main" id="{575C6453-0AD8-FF6D-0C60-D54135637294}"/>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3D89846-0F67-F61C-0D58-D107EF4BFA5D}"/>
              </a:ext>
            </a:extLst>
          </p:cNvPr>
          <p:cNvSpPr>
            <a:spLocks noGrp="1"/>
          </p:cNvSpPr>
          <p:nvPr>
            <p:ph type="sldNum" sz="quarter" idx="12"/>
          </p:nvPr>
        </p:nvSpPr>
        <p:spPr/>
        <p:txBody>
          <a:bodyPr/>
          <a:lstStyle/>
          <a:p>
            <a:fld id="{65F0439C-93C7-4F60-AE76-A4279AF4F0ED}" type="slidenum">
              <a:rPr kumimoji="1" lang="ja-JP" altLang="en-US" smtClean="0"/>
              <a:t>‹#›</a:t>
            </a:fld>
            <a:endParaRPr kumimoji="1" lang="ja-JP" altLang="en-US"/>
          </a:p>
        </p:txBody>
      </p:sp>
    </p:spTree>
    <p:extLst>
      <p:ext uri="{BB962C8B-B14F-4D97-AF65-F5344CB8AC3E}">
        <p14:creationId xmlns:p14="http://schemas.microsoft.com/office/powerpoint/2010/main" val="22240766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DD87286-5412-1212-6703-405C37D8491F}"/>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DAA4EE6B-19F8-3AB0-B36C-8C6EB37CD2A4}"/>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5E4A501-B426-7718-7F2F-2E00BB2C3531}"/>
              </a:ext>
            </a:extLst>
          </p:cNvPr>
          <p:cNvSpPr>
            <a:spLocks noGrp="1"/>
          </p:cNvSpPr>
          <p:nvPr>
            <p:ph type="dt" sz="half" idx="10"/>
          </p:nvPr>
        </p:nvSpPr>
        <p:spPr/>
        <p:txBody>
          <a:bodyPr/>
          <a:lstStyle/>
          <a:p>
            <a:fld id="{0485C78C-F8C7-45AC-BE3F-36CD348896DC}" type="datetimeFigureOut">
              <a:rPr kumimoji="1" lang="ja-JP" altLang="en-US" smtClean="0"/>
              <a:t>2026/4/1</a:t>
            </a:fld>
            <a:endParaRPr kumimoji="1" lang="ja-JP" altLang="en-US"/>
          </a:p>
        </p:txBody>
      </p:sp>
      <p:sp>
        <p:nvSpPr>
          <p:cNvPr id="5" name="フッター プレースホルダー 4">
            <a:extLst>
              <a:ext uri="{FF2B5EF4-FFF2-40B4-BE49-F238E27FC236}">
                <a16:creationId xmlns:a16="http://schemas.microsoft.com/office/drawing/2014/main" id="{AB549BF6-8E97-433A-1542-4EBDD800266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9E91355-8CC7-3F72-2FF8-69A050DA46A5}"/>
              </a:ext>
            </a:extLst>
          </p:cNvPr>
          <p:cNvSpPr>
            <a:spLocks noGrp="1"/>
          </p:cNvSpPr>
          <p:nvPr>
            <p:ph type="sldNum" sz="quarter" idx="12"/>
          </p:nvPr>
        </p:nvSpPr>
        <p:spPr/>
        <p:txBody>
          <a:bodyPr/>
          <a:lstStyle/>
          <a:p>
            <a:fld id="{65F0439C-93C7-4F60-AE76-A4279AF4F0ED}" type="slidenum">
              <a:rPr kumimoji="1" lang="ja-JP" altLang="en-US" smtClean="0"/>
              <a:t>‹#›</a:t>
            </a:fld>
            <a:endParaRPr kumimoji="1" lang="ja-JP" altLang="en-US"/>
          </a:p>
        </p:txBody>
      </p:sp>
    </p:spTree>
    <p:extLst>
      <p:ext uri="{BB962C8B-B14F-4D97-AF65-F5344CB8AC3E}">
        <p14:creationId xmlns:p14="http://schemas.microsoft.com/office/powerpoint/2010/main" val="3677801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65AD5E21-CE3B-D9C5-4C0A-311F52208529}"/>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56C696C7-73D9-54EA-45B0-86667ED96188}"/>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6603B06-4813-1C12-D766-5F85F506FF19}"/>
              </a:ext>
            </a:extLst>
          </p:cNvPr>
          <p:cNvSpPr>
            <a:spLocks noGrp="1"/>
          </p:cNvSpPr>
          <p:nvPr>
            <p:ph type="dt" sz="half" idx="10"/>
          </p:nvPr>
        </p:nvSpPr>
        <p:spPr/>
        <p:txBody>
          <a:bodyPr/>
          <a:lstStyle/>
          <a:p>
            <a:fld id="{0485C78C-F8C7-45AC-BE3F-36CD348896DC}" type="datetimeFigureOut">
              <a:rPr kumimoji="1" lang="ja-JP" altLang="en-US" smtClean="0"/>
              <a:t>2026/4/1</a:t>
            </a:fld>
            <a:endParaRPr kumimoji="1" lang="ja-JP" altLang="en-US"/>
          </a:p>
        </p:txBody>
      </p:sp>
      <p:sp>
        <p:nvSpPr>
          <p:cNvPr id="5" name="フッター プレースホルダー 4">
            <a:extLst>
              <a:ext uri="{FF2B5EF4-FFF2-40B4-BE49-F238E27FC236}">
                <a16:creationId xmlns:a16="http://schemas.microsoft.com/office/drawing/2014/main" id="{C66B4C19-5179-0829-F58C-9D0C30F4C45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B4F5207-842E-119B-E5CE-24416D7C0970}"/>
              </a:ext>
            </a:extLst>
          </p:cNvPr>
          <p:cNvSpPr>
            <a:spLocks noGrp="1"/>
          </p:cNvSpPr>
          <p:nvPr>
            <p:ph type="sldNum" sz="quarter" idx="12"/>
          </p:nvPr>
        </p:nvSpPr>
        <p:spPr/>
        <p:txBody>
          <a:bodyPr/>
          <a:lstStyle/>
          <a:p>
            <a:fld id="{65F0439C-93C7-4F60-AE76-A4279AF4F0ED}" type="slidenum">
              <a:rPr kumimoji="1" lang="ja-JP" altLang="en-US" smtClean="0"/>
              <a:t>‹#›</a:t>
            </a:fld>
            <a:endParaRPr kumimoji="1" lang="ja-JP" altLang="en-US"/>
          </a:p>
        </p:txBody>
      </p:sp>
    </p:spTree>
    <p:extLst>
      <p:ext uri="{BB962C8B-B14F-4D97-AF65-F5344CB8AC3E}">
        <p14:creationId xmlns:p14="http://schemas.microsoft.com/office/powerpoint/2010/main" val="41173498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285750" y="6619875"/>
          <a:ext cx="4438650" cy="6810375"/>
          <a:chOff x="285750" y="6619875"/>
          <a:chExt cx="4438650" cy="6810375"/>
        </a:xfrm>
      </p:grpSpPr>
      <p:pic>
        <p:nvPicPr>
          <p:cNvPr id="2" name="Footer Logo 1"/>
          <p:cNvPicPr>
            <a:picLocks noChangeAspect="1"/>
          </p:cNvPicPr>
          <p:nvPr/>
        </p:nvPicPr>
        <p:blipFill>
          <a:blip r:embed="rId2"/>
          <a:stretch>
            <a:fillRect/>
          </a:stretch>
        </p:blipFill>
        <p:spPr>
          <a:xfrm>
            <a:off x="381000" y="6619875"/>
            <a:ext cx="762000" cy="190500"/>
          </a:xfrm>
          <a:prstGeom prst="rect">
            <a:avLst/>
          </a:prstGeom>
          <a:noFill/>
        </p:spPr>
      </p:pic>
      <p:sp>
        <p:nvSpPr>
          <p:cNvPr id="3" name="テキスト ボックス 2"/>
          <p:cNvSpPr txBox="1"/>
          <p:nvPr/>
        </p:nvSpPr>
        <p:spPr>
          <a:xfrm>
            <a:off x="1206501" y="6677025"/>
            <a:ext cx="723900" cy="114300"/>
          </a:xfrm>
          <a:prstGeom prst="rect">
            <a:avLst/>
          </a:prstGeom>
          <a:solidFill>
            <a:srgbClr val="7F7F7F">
              <a:alpha val="100000"/>
            </a:srgbClr>
          </a:solidFill>
          <a:ln w="9525" cap="flat" cmpd="sng" algn="ctr">
            <a:solidFill>
              <a:srgbClr val="7F7F7F">
                <a:alpha val="100000"/>
              </a:srgbClr>
            </a:solidFill>
            <a:prstDash val="solid"/>
            <a:round/>
            <a:headEnd type="none" w="med" len="med"/>
            <a:tailEnd type="none" w="med" len="med"/>
          </a:ln>
        </p:spPr>
        <p:txBody>
          <a:bodyPr vert="horz" lIns="76200" tIns="9525" rIns="76200" bIns="9525" rtlCol="0" anchorCtr="0">
            <a:spAutoFit/>
          </a:bodyPr>
          <a:lstStyle/>
          <a:p>
            <a:pPr marL="0" marR="0" lvl="0" indent="0" algn="l" rtl="0" fontAlgn="base">
              <a:lnSpc>
                <a:spcPct val="100000"/>
              </a:lnSpc>
              <a:spcBef>
                <a:spcPts val="0"/>
              </a:spcBef>
              <a:spcAft>
                <a:spcPts val="0"/>
              </a:spcAft>
            </a:pPr>
            <a:r>
              <a:rPr lang="en-US" sz="600" u="none" strike="noStrike" cap="none" spc="0">
                <a:solidFill>
                  <a:srgbClr val="FFFFFF">
                    <a:alpha val="100000"/>
                  </a:srgbClr>
                </a:solidFill>
                <a:latin typeface="Yu Gothic"/>
              </a:rPr>
              <a:t>関係者外秘</a:t>
            </a:r>
          </a:p>
        </p:txBody>
      </p:sp>
      <p:sp>
        <p:nvSpPr>
          <p:cNvPr id="4" name="テキスト ボックス 3"/>
          <p:cNvSpPr txBox="1"/>
          <p:nvPr/>
        </p:nvSpPr>
        <p:spPr>
          <a:xfrm>
            <a:off x="1930400" y="6677025"/>
            <a:ext cx="812800" cy="114300"/>
          </a:xfrm>
          <a:prstGeom prst="rect">
            <a:avLst/>
          </a:prstGeom>
          <a:noFill/>
          <a:ln w="9525" cap="flat" cmpd="sng" algn="ctr">
            <a:solidFill>
              <a:srgbClr val="7F7F7F">
                <a:alpha val="100000"/>
              </a:srgbClr>
            </a:solidFill>
            <a:prstDash val="solid"/>
            <a:round/>
            <a:headEnd type="none" w="med" len="med"/>
            <a:tailEnd type="none" w="med" len="med"/>
          </a:ln>
        </p:spPr>
        <p:txBody>
          <a:bodyPr vert="horz" lIns="76200" tIns="9525" rIns="76200" bIns="9525" rtlCol="0" anchorCtr="0">
            <a:spAutoFit/>
          </a:bodyPr>
          <a:lstStyle/>
          <a:p>
            <a:pPr marL="0" marR="0" lvl="0" indent="0" algn="l" rtl="0" fontAlgn="base">
              <a:lnSpc>
                <a:spcPct val="100000"/>
              </a:lnSpc>
              <a:spcBef>
                <a:spcPts val="0"/>
              </a:spcBef>
              <a:spcAft>
                <a:spcPts val="0"/>
              </a:spcAft>
            </a:pPr>
            <a:r>
              <a:rPr lang="en-US" sz="600" u="none" strike="noStrike" cap="none" spc="0">
                <a:solidFill>
                  <a:srgbClr val="7F7F7F">
                    <a:alpha val="100000"/>
                  </a:srgbClr>
                </a:solidFill>
                <a:latin typeface="Century Gothic"/>
              </a:rPr>
              <a:t>Confidential</a:t>
            </a:r>
          </a:p>
        </p:txBody>
      </p:sp>
      <p:sp>
        <p:nvSpPr>
          <p:cNvPr id="5" name="テキスト ボックス 4"/>
          <p:cNvSpPr txBox="1"/>
          <p:nvPr/>
        </p:nvSpPr>
        <p:spPr>
          <a:xfrm>
            <a:off x="2743200" y="6677025"/>
            <a:ext cx="3175000" cy="114300"/>
          </a:xfrm>
          <a:prstGeom prst="rect">
            <a:avLst/>
          </a:prstGeom>
          <a:noFill/>
        </p:spPr>
        <p:txBody>
          <a:bodyPr vert="horz" lIns="76200" tIns="9525" rIns="76200" bIns="9525" rtlCol="0" anchorCtr="0">
            <a:spAutoFit/>
          </a:bodyPr>
          <a:lstStyle/>
          <a:p>
            <a:pPr marL="0" marR="0" lvl="0" indent="0" algn="l" rtl="0" fontAlgn="base">
              <a:lnSpc>
                <a:spcPct val="100000"/>
              </a:lnSpc>
              <a:spcBef>
                <a:spcPts val="0"/>
              </a:spcBef>
              <a:spcAft>
                <a:spcPts val="0"/>
              </a:spcAft>
            </a:pPr>
            <a:r>
              <a:rPr lang="en-US" sz="600" u="none" strike="noStrike" cap="none" spc="0">
                <a:solidFill>
                  <a:srgbClr val="7F7F7F">
                    <a:alpha val="100000"/>
                  </a:srgbClr>
                </a:solidFill>
                <a:latin typeface="Century Gothic"/>
              </a:rPr>
              <a:t>© OLIVER CORPORATION All rights reserved.</a:t>
            </a:r>
          </a:p>
        </p:txBody>
      </p:sp>
    </p:spTree>
    <p:extLst>
      <p:ext uri="{BB962C8B-B14F-4D97-AF65-F5344CB8AC3E}">
        <p14:creationId xmlns:p14="http://schemas.microsoft.com/office/powerpoint/2010/main" val="17567069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977F36F1-613F-1B22-6044-4C677BA7526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CE78F45-0236-6184-0BA5-346682798F0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A447E15-05C5-FB33-B4A5-0A557B63524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485C78C-F8C7-45AC-BE3F-36CD348896DC}" type="datetimeFigureOut">
              <a:rPr kumimoji="1" lang="ja-JP" altLang="en-US" smtClean="0"/>
              <a:t>2026/4/1</a:t>
            </a:fld>
            <a:endParaRPr kumimoji="1" lang="ja-JP" altLang="en-US"/>
          </a:p>
        </p:txBody>
      </p:sp>
      <p:sp>
        <p:nvSpPr>
          <p:cNvPr id="5" name="フッター プレースホルダー 4">
            <a:extLst>
              <a:ext uri="{FF2B5EF4-FFF2-40B4-BE49-F238E27FC236}">
                <a16:creationId xmlns:a16="http://schemas.microsoft.com/office/drawing/2014/main" id="{D76BAB51-EF9A-311C-281B-3507662D233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E9575929-1553-C12F-D9EE-95137951E39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5F0439C-93C7-4F60-AE76-A4279AF4F0ED}" type="slidenum">
              <a:rPr kumimoji="1" lang="ja-JP" altLang="en-US" smtClean="0"/>
              <a:t>‹#›</a:t>
            </a:fld>
            <a:endParaRPr kumimoji="1" lang="ja-JP" altLang="en-US"/>
          </a:p>
        </p:txBody>
      </p:sp>
    </p:spTree>
    <p:extLst>
      <p:ext uri="{BB962C8B-B14F-4D97-AF65-F5344CB8AC3E}">
        <p14:creationId xmlns:p14="http://schemas.microsoft.com/office/powerpoint/2010/main" val="42152720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jpg"/><Relationship Id="rId13" Type="http://schemas.openxmlformats.org/officeDocument/2006/relationships/image" Target="../media/image12.jpg"/><Relationship Id="rId18" Type="http://schemas.openxmlformats.org/officeDocument/2006/relationships/image" Target="../media/image17.jpg"/><Relationship Id="rId3" Type="http://schemas.openxmlformats.org/officeDocument/2006/relationships/image" Target="../media/image2.png"/><Relationship Id="rId21" Type="http://schemas.openxmlformats.org/officeDocument/2006/relationships/image" Target="../media/image20.jpg"/><Relationship Id="rId7" Type="http://schemas.openxmlformats.org/officeDocument/2006/relationships/image" Target="../media/image6.jpg"/><Relationship Id="rId12" Type="http://schemas.openxmlformats.org/officeDocument/2006/relationships/image" Target="../media/image11.jpg"/><Relationship Id="rId17" Type="http://schemas.openxmlformats.org/officeDocument/2006/relationships/image" Target="../media/image16.jpg"/><Relationship Id="rId2" Type="http://schemas.openxmlformats.org/officeDocument/2006/relationships/hyperlink" Target="https://www.oliverinc.co.jp/products/detail?id=SCNH802ACLOBE" TargetMode="External"/><Relationship Id="rId16" Type="http://schemas.openxmlformats.org/officeDocument/2006/relationships/image" Target="../media/image15.jpg"/><Relationship Id="rId20" Type="http://schemas.openxmlformats.org/officeDocument/2006/relationships/image" Target="../media/image19.jpg"/><Relationship Id="rId1" Type="http://schemas.openxmlformats.org/officeDocument/2006/relationships/slideLayout" Target="../slideLayouts/slideLayout12.xml"/><Relationship Id="rId6" Type="http://schemas.openxmlformats.org/officeDocument/2006/relationships/image" Target="../media/image5.png"/><Relationship Id="rId11" Type="http://schemas.openxmlformats.org/officeDocument/2006/relationships/image" Target="../media/image10.jpg"/><Relationship Id="rId5" Type="http://schemas.openxmlformats.org/officeDocument/2006/relationships/image" Target="../media/image4.png"/><Relationship Id="rId15" Type="http://schemas.openxmlformats.org/officeDocument/2006/relationships/image" Target="../media/image14.jpg"/><Relationship Id="rId10" Type="http://schemas.openxmlformats.org/officeDocument/2006/relationships/image" Target="../media/image9.jpg"/><Relationship Id="rId19" Type="http://schemas.openxmlformats.org/officeDocument/2006/relationships/image" Target="../media/image18.jpg"/><Relationship Id="rId4" Type="http://schemas.openxmlformats.org/officeDocument/2006/relationships/image" Target="../media/image3.png"/><Relationship Id="rId9" Type="http://schemas.openxmlformats.org/officeDocument/2006/relationships/image" Target="../media/image8.jpg"/><Relationship Id="rId14" Type="http://schemas.openxmlformats.org/officeDocument/2006/relationships/image" Target="../media/image13.jpg"/><Relationship Id="rId22" Type="http://schemas.openxmlformats.org/officeDocument/2006/relationships/image" Target="../media/image21.jpg"/></Relationships>
</file>

<file path=ppt/slides/_rels/slide2.xml.rels><?xml version="1.0" encoding="UTF-8" standalone="yes"?>
<Relationships xmlns="http://schemas.openxmlformats.org/package/2006/relationships"><Relationship Id="rId8" Type="http://schemas.openxmlformats.org/officeDocument/2006/relationships/image" Target="../media/image26.jpg"/><Relationship Id="rId3" Type="http://schemas.openxmlformats.org/officeDocument/2006/relationships/image" Target="../media/image22.png"/><Relationship Id="rId7" Type="http://schemas.openxmlformats.org/officeDocument/2006/relationships/image" Target="../media/image25.jpg"/><Relationship Id="rId2" Type="http://schemas.openxmlformats.org/officeDocument/2006/relationships/hyperlink" Target="https://www.oliverinc.co.jp/products/detail?id=SCS482BK" TargetMode="External"/><Relationship Id="rId1" Type="http://schemas.openxmlformats.org/officeDocument/2006/relationships/slideLayout" Target="../slideLayouts/slideLayout12.xml"/><Relationship Id="rId6" Type="http://schemas.openxmlformats.org/officeDocument/2006/relationships/image" Target="../media/image24.jpg"/><Relationship Id="rId11" Type="http://schemas.openxmlformats.org/officeDocument/2006/relationships/image" Target="../media/image28.jpg"/><Relationship Id="rId5" Type="http://schemas.openxmlformats.org/officeDocument/2006/relationships/image" Target="../media/image23.jpg"/><Relationship Id="rId10" Type="http://schemas.openxmlformats.org/officeDocument/2006/relationships/image" Target="../media/image27.jpg"/><Relationship Id="rId4" Type="http://schemas.openxmlformats.org/officeDocument/2006/relationships/image" Target="../media/image4.png"/><Relationship Id="rId9" Type="http://schemas.openxmlformats.org/officeDocument/2006/relationships/image" Target="../media/image20.jpg"/></Relationships>
</file>

<file path=ppt/slides/_rels/slide3.xml.rels><?xml version="1.0" encoding="UTF-8" standalone="yes"?>
<Relationships xmlns="http://schemas.openxmlformats.org/package/2006/relationships"><Relationship Id="rId8" Type="http://schemas.openxmlformats.org/officeDocument/2006/relationships/image" Target="../media/image34.jpg"/><Relationship Id="rId3" Type="http://schemas.openxmlformats.org/officeDocument/2006/relationships/image" Target="../media/image29.jpg"/><Relationship Id="rId7" Type="http://schemas.openxmlformats.org/officeDocument/2006/relationships/image" Target="../media/image33.jpg"/><Relationship Id="rId12" Type="http://schemas.openxmlformats.org/officeDocument/2006/relationships/image" Target="../media/image38.jpg"/><Relationship Id="rId2" Type="http://schemas.openxmlformats.org/officeDocument/2006/relationships/hyperlink" Target="https://www.oliverinc.co.jp/products/detail?id=STTG774ABTAOMSLSG774ABBKSOAG774MASOSG774ATP" TargetMode="External"/><Relationship Id="rId1" Type="http://schemas.openxmlformats.org/officeDocument/2006/relationships/slideLayout" Target="../slideLayouts/slideLayout12.xml"/><Relationship Id="rId6" Type="http://schemas.openxmlformats.org/officeDocument/2006/relationships/image" Target="../media/image32.jpg"/><Relationship Id="rId11" Type="http://schemas.openxmlformats.org/officeDocument/2006/relationships/image" Target="../media/image37.jpg"/><Relationship Id="rId5" Type="http://schemas.openxmlformats.org/officeDocument/2006/relationships/image" Target="../media/image31.jpg"/><Relationship Id="rId10" Type="http://schemas.openxmlformats.org/officeDocument/2006/relationships/image" Target="../media/image36.jpg"/><Relationship Id="rId4" Type="http://schemas.openxmlformats.org/officeDocument/2006/relationships/image" Target="../media/image30.jpg"/><Relationship Id="rId9" Type="http://schemas.openxmlformats.org/officeDocument/2006/relationships/image" Target="../media/image35.jpg"/></Relationships>
</file>

<file path=ppt/slides/_rels/slide4.xml.rels><?xml version="1.0" encoding="UTF-8" standalone="yes"?>
<Relationships xmlns="http://schemas.openxmlformats.org/package/2006/relationships"><Relationship Id="rId8" Type="http://schemas.openxmlformats.org/officeDocument/2006/relationships/image" Target="../media/image36.jpg"/><Relationship Id="rId13" Type="http://schemas.openxmlformats.org/officeDocument/2006/relationships/image" Target="../media/image3.png"/><Relationship Id="rId3" Type="http://schemas.openxmlformats.org/officeDocument/2006/relationships/image" Target="../media/image29.jpg"/><Relationship Id="rId7" Type="http://schemas.openxmlformats.org/officeDocument/2006/relationships/image" Target="../media/image35.jpg"/><Relationship Id="rId12" Type="http://schemas.openxmlformats.org/officeDocument/2006/relationships/image" Target="../media/image39.png"/><Relationship Id="rId2" Type="http://schemas.openxmlformats.org/officeDocument/2006/relationships/hyperlink" Target="https://www.oliverinc.co.jp/products/detail?id=STTG774ABTAOMSLSG774ABBKSOAG774MASOSG774ATP" TargetMode="External"/><Relationship Id="rId16" Type="http://schemas.openxmlformats.org/officeDocument/2006/relationships/image" Target="../media/image20.jpg"/><Relationship Id="rId1" Type="http://schemas.openxmlformats.org/officeDocument/2006/relationships/slideLayout" Target="../slideLayouts/slideLayout12.xml"/><Relationship Id="rId6" Type="http://schemas.openxmlformats.org/officeDocument/2006/relationships/image" Target="../media/image34.jpg"/><Relationship Id="rId11" Type="http://schemas.openxmlformats.org/officeDocument/2006/relationships/image" Target="../media/image5.png"/><Relationship Id="rId5" Type="http://schemas.openxmlformats.org/officeDocument/2006/relationships/image" Target="../media/image33.jpg"/><Relationship Id="rId15" Type="http://schemas.openxmlformats.org/officeDocument/2006/relationships/image" Target="../media/image40.png"/><Relationship Id="rId10" Type="http://schemas.openxmlformats.org/officeDocument/2006/relationships/image" Target="../media/image38.jpg"/><Relationship Id="rId4" Type="http://schemas.openxmlformats.org/officeDocument/2006/relationships/image" Target="../media/image32.jpg"/><Relationship Id="rId9" Type="http://schemas.openxmlformats.org/officeDocument/2006/relationships/image" Target="../media/image37.jpg"/><Relationship Id="rId14" Type="http://schemas.openxmlformats.org/officeDocument/2006/relationships/image" Target="../media/image22.png"/></Relationships>
</file>

<file path=ppt/slides/_rels/slide5.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47.jpg"/><Relationship Id="rId18" Type="http://schemas.openxmlformats.org/officeDocument/2006/relationships/image" Target="../media/image51.jpg"/><Relationship Id="rId3" Type="http://schemas.openxmlformats.org/officeDocument/2006/relationships/image" Target="../media/image41.png"/><Relationship Id="rId21" Type="http://schemas.openxmlformats.org/officeDocument/2006/relationships/image" Target="../media/image54.jpg"/><Relationship Id="rId7" Type="http://schemas.openxmlformats.org/officeDocument/2006/relationships/image" Target="../media/image4.png"/><Relationship Id="rId12" Type="http://schemas.openxmlformats.org/officeDocument/2006/relationships/image" Target="../media/image46.jpg"/><Relationship Id="rId17" Type="http://schemas.openxmlformats.org/officeDocument/2006/relationships/image" Target="../media/image50.jpg"/><Relationship Id="rId2" Type="http://schemas.openxmlformats.org/officeDocument/2006/relationships/hyperlink" Target="https://www.oliverinc.co.jp/products/detail?id=SCN70MACBK" TargetMode="External"/><Relationship Id="rId16" Type="http://schemas.openxmlformats.org/officeDocument/2006/relationships/image" Target="../media/image20.jpg"/><Relationship Id="rId20" Type="http://schemas.openxmlformats.org/officeDocument/2006/relationships/image" Target="../media/image53.jpg"/><Relationship Id="rId1" Type="http://schemas.openxmlformats.org/officeDocument/2006/relationships/slideLayout" Target="../slideLayouts/slideLayout12.xml"/><Relationship Id="rId6" Type="http://schemas.openxmlformats.org/officeDocument/2006/relationships/image" Target="../media/image3.png"/><Relationship Id="rId11" Type="http://schemas.openxmlformats.org/officeDocument/2006/relationships/image" Target="../media/image45.jpg"/><Relationship Id="rId5" Type="http://schemas.openxmlformats.org/officeDocument/2006/relationships/image" Target="../media/image22.png"/><Relationship Id="rId15" Type="http://schemas.openxmlformats.org/officeDocument/2006/relationships/image" Target="../media/image49.jpg"/><Relationship Id="rId10" Type="http://schemas.openxmlformats.org/officeDocument/2006/relationships/image" Target="../media/image44.jpg"/><Relationship Id="rId19" Type="http://schemas.openxmlformats.org/officeDocument/2006/relationships/image" Target="../media/image52.jpg"/><Relationship Id="rId4" Type="http://schemas.openxmlformats.org/officeDocument/2006/relationships/image" Target="../media/image42.png"/><Relationship Id="rId9" Type="http://schemas.openxmlformats.org/officeDocument/2006/relationships/image" Target="../media/image43.jpg"/><Relationship Id="rId14" Type="http://schemas.openxmlformats.org/officeDocument/2006/relationships/image" Target="../media/image48.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4714875" y="190500"/>
          <a:ext cx="8858250" cy="6477000"/>
          <a:chOff x="-4714875" y="190500"/>
          <a:chExt cx="8858250" cy="6477000"/>
        </a:xfrm>
      </p:grpSpPr>
      <p:sp>
        <p:nvSpPr>
          <p:cNvPr id="2" name="テキスト ボックス 1"/>
          <p:cNvSpPr txBox="1"/>
          <p:nvPr/>
        </p:nvSpPr>
        <p:spPr>
          <a:xfrm>
            <a:off x="1809750" y="190500"/>
            <a:ext cx="5715000" cy="400110"/>
          </a:xfrm>
          <a:prstGeom prst="rect">
            <a:avLst/>
          </a:prstGeom>
          <a:noFill/>
        </p:spPr>
        <p:txBody>
          <a:bodyPr vert="horz" lIns="91440" tIns="45720" rIns="91440" bIns="45720" rtlCol="0" anchorCtr="0">
            <a:spAutoFit/>
          </a:bodyPr>
          <a:lstStyle/>
          <a:p>
            <a:pPr fontAlgn="base"/>
            <a:r>
              <a:rPr lang="en-US" sz="2000" u="sng">
                <a:solidFill>
                  <a:srgbClr val="333333">
                    <a:alpha val="100000"/>
                  </a:srgbClr>
                </a:solidFill>
                <a:latin typeface="Century Gothic"/>
                <a:hlinkClick r:id="rId2">
                  <a:extLst>
                    <a:ext uri="{A12FA001-AC4F-418D-AE19-62706E023703}">
                      <ahyp:hlinkClr xmlns:ahyp="http://schemas.microsoft.com/office/drawing/2018/hyperlinkcolor" val="tx"/>
                    </a:ext>
                  </a:extLst>
                </a:hlinkClick>
              </a:rPr>
              <a:t>S・CN-H802</a:t>
            </a:r>
          </a:p>
        </p:txBody>
      </p:sp>
      <p:pic>
        <p:nvPicPr>
          <p:cNvPr id="3" name="Mark 1"/>
          <p:cNvPicPr>
            <a:picLocks noChangeAspect="1"/>
          </p:cNvPicPr>
          <p:nvPr/>
        </p:nvPicPr>
        <p:blipFill>
          <a:blip r:embed="rId3"/>
          <a:stretch>
            <a:fillRect/>
          </a:stretch>
        </p:blipFill>
        <p:spPr>
          <a:xfrm>
            <a:off x="10210800" y="238125"/>
            <a:ext cx="171450" cy="171450"/>
          </a:xfrm>
          <a:prstGeom prst="rect">
            <a:avLst/>
          </a:prstGeom>
          <a:noFill/>
        </p:spPr>
      </p:pic>
      <p:pic>
        <p:nvPicPr>
          <p:cNvPr id="4" name="Mark 2"/>
          <p:cNvPicPr>
            <a:picLocks noChangeAspect="1"/>
          </p:cNvPicPr>
          <p:nvPr/>
        </p:nvPicPr>
        <p:blipFill>
          <a:blip r:embed="rId4"/>
          <a:stretch>
            <a:fillRect/>
          </a:stretch>
        </p:blipFill>
        <p:spPr>
          <a:xfrm>
            <a:off x="10020300" y="238125"/>
            <a:ext cx="171450" cy="171450"/>
          </a:xfrm>
          <a:prstGeom prst="rect">
            <a:avLst/>
          </a:prstGeom>
          <a:noFill/>
        </p:spPr>
      </p:pic>
      <p:pic>
        <p:nvPicPr>
          <p:cNvPr id="5" name="Mark 3"/>
          <p:cNvPicPr>
            <a:picLocks noChangeAspect="1"/>
          </p:cNvPicPr>
          <p:nvPr/>
        </p:nvPicPr>
        <p:blipFill>
          <a:blip r:embed="rId5"/>
          <a:stretch>
            <a:fillRect/>
          </a:stretch>
        </p:blipFill>
        <p:spPr>
          <a:xfrm>
            <a:off x="9820276" y="238125"/>
            <a:ext cx="180975" cy="171450"/>
          </a:xfrm>
          <a:prstGeom prst="rect">
            <a:avLst/>
          </a:prstGeom>
          <a:noFill/>
        </p:spPr>
      </p:pic>
      <p:pic>
        <p:nvPicPr>
          <p:cNvPr id="6" name="Mark 4"/>
          <p:cNvPicPr>
            <a:picLocks noChangeAspect="1"/>
          </p:cNvPicPr>
          <p:nvPr/>
        </p:nvPicPr>
        <p:blipFill>
          <a:blip r:embed="rId6"/>
          <a:stretch>
            <a:fillRect/>
          </a:stretch>
        </p:blipFill>
        <p:spPr>
          <a:xfrm>
            <a:off x="9629775" y="238125"/>
            <a:ext cx="171450" cy="171450"/>
          </a:xfrm>
          <a:prstGeom prst="rect">
            <a:avLst/>
          </a:prstGeom>
          <a:noFill/>
        </p:spPr>
      </p:pic>
      <p:pic>
        <p:nvPicPr>
          <p:cNvPr id="7" name="Product Image 1"/>
          <p:cNvPicPr>
            <a:picLocks noChangeAspect="1"/>
          </p:cNvPicPr>
          <p:nvPr/>
        </p:nvPicPr>
        <p:blipFill>
          <a:blip r:embed="rId7"/>
          <a:stretch>
            <a:fillRect/>
          </a:stretch>
        </p:blipFill>
        <p:spPr>
          <a:xfrm>
            <a:off x="1809750" y="1333500"/>
            <a:ext cx="2095500" cy="2095500"/>
          </a:xfrm>
          <a:prstGeom prst="rect">
            <a:avLst/>
          </a:prstGeom>
          <a:noFill/>
        </p:spPr>
      </p:pic>
      <p:pic>
        <p:nvPicPr>
          <p:cNvPr id="8" name="Product Image 2"/>
          <p:cNvPicPr>
            <a:picLocks noChangeAspect="1"/>
          </p:cNvPicPr>
          <p:nvPr/>
        </p:nvPicPr>
        <p:blipFill>
          <a:blip r:embed="rId8"/>
          <a:stretch>
            <a:fillRect/>
          </a:stretch>
        </p:blipFill>
        <p:spPr>
          <a:xfrm>
            <a:off x="3952875" y="1333500"/>
            <a:ext cx="2095500" cy="2095500"/>
          </a:xfrm>
          <a:prstGeom prst="rect">
            <a:avLst/>
          </a:prstGeom>
          <a:noFill/>
        </p:spPr>
      </p:pic>
      <p:pic>
        <p:nvPicPr>
          <p:cNvPr id="9" name="Product Image 3"/>
          <p:cNvPicPr>
            <a:picLocks noChangeAspect="1"/>
          </p:cNvPicPr>
          <p:nvPr/>
        </p:nvPicPr>
        <p:blipFill>
          <a:blip r:embed="rId9"/>
          <a:stretch>
            <a:fillRect/>
          </a:stretch>
        </p:blipFill>
        <p:spPr>
          <a:xfrm>
            <a:off x="6096000" y="1333500"/>
            <a:ext cx="2095500" cy="2095500"/>
          </a:xfrm>
          <a:prstGeom prst="rect">
            <a:avLst/>
          </a:prstGeom>
          <a:noFill/>
        </p:spPr>
      </p:pic>
      <p:pic>
        <p:nvPicPr>
          <p:cNvPr id="10" name="Product Image 4"/>
          <p:cNvPicPr>
            <a:picLocks noChangeAspect="1"/>
          </p:cNvPicPr>
          <p:nvPr/>
        </p:nvPicPr>
        <p:blipFill>
          <a:blip r:embed="rId10"/>
          <a:stretch>
            <a:fillRect/>
          </a:stretch>
        </p:blipFill>
        <p:spPr>
          <a:xfrm>
            <a:off x="8239125" y="1333500"/>
            <a:ext cx="2095500" cy="2095500"/>
          </a:xfrm>
          <a:prstGeom prst="rect">
            <a:avLst/>
          </a:prstGeom>
          <a:noFill/>
        </p:spPr>
      </p:pic>
      <p:pic>
        <p:nvPicPr>
          <p:cNvPr id="11" name="Product Image 5"/>
          <p:cNvPicPr>
            <a:picLocks noChangeAspect="1"/>
          </p:cNvPicPr>
          <p:nvPr/>
        </p:nvPicPr>
        <p:blipFill>
          <a:blip r:embed="rId11"/>
          <a:stretch>
            <a:fillRect/>
          </a:stretch>
        </p:blipFill>
        <p:spPr>
          <a:xfrm>
            <a:off x="-1428750" y="238125"/>
            <a:ext cx="1047750" cy="1047750"/>
          </a:xfrm>
          <a:prstGeom prst="rect">
            <a:avLst/>
          </a:prstGeom>
          <a:noFill/>
        </p:spPr>
      </p:pic>
      <p:pic>
        <p:nvPicPr>
          <p:cNvPr id="12" name="Product Image 6"/>
          <p:cNvPicPr>
            <a:picLocks noChangeAspect="1"/>
          </p:cNvPicPr>
          <p:nvPr/>
        </p:nvPicPr>
        <p:blipFill>
          <a:blip r:embed="rId12"/>
          <a:stretch>
            <a:fillRect/>
          </a:stretch>
        </p:blipFill>
        <p:spPr>
          <a:xfrm>
            <a:off x="-2524125" y="238125"/>
            <a:ext cx="1047750" cy="1047750"/>
          </a:xfrm>
          <a:prstGeom prst="rect">
            <a:avLst/>
          </a:prstGeom>
          <a:noFill/>
        </p:spPr>
      </p:pic>
      <p:pic>
        <p:nvPicPr>
          <p:cNvPr id="13" name="Product Image 7"/>
          <p:cNvPicPr>
            <a:picLocks noChangeAspect="1"/>
          </p:cNvPicPr>
          <p:nvPr/>
        </p:nvPicPr>
        <p:blipFill>
          <a:blip r:embed="rId13"/>
          <a:stretch>
            <a:fillRect/>
          </a:stretch>
        </p:blipFill>
        <p:spPr>
          <a:xfrm>
            <a:off x="-3619500" y="238126"/>
            <a:ext cx="1047750" cy="561975"/>
          </a:xfrm>
          <a:prstGeom prst="rect">
            <a:avLst/>
          </a:prstGeom>
          <a:noFill/>
        </p:spPr>
      </p:pic>
      <p:pic>
        <p:nvPicPr>
          <p:cNvPr id="14" name="Product Image 8"/>
          <p:cNvPicPr>
            <a:picLocks noChangeAspect="1"/>
          </p:cNvPicPr>
          <p:nvPr/>
        </p:nvPicPr>
        <p:blipFill>
          <a:blip r:embed="rId14"/>
          <a:stretch>
            <a:fillRect/>
          </a:stretch>
        </p:blipFill>
        <p:spPr>
          <a:xfrm>
            <a:off x="-4714875" y="238125"/>
            <a:ext cx="1047750" cy="704850"/>
          </a:xfrm>
          <a:prstGeom prst="rect">
            <a:avLst/>
          </a:prstGeom>
          <a:noFill/>
        </p:spPr>
      </p:pic>
      <p:pic>
        <p:nvPicPr>
          <p:cNvPr id="15" name="Product Image 9"/>
          <p:cNvPicPr>
            <a:picLocks noChangeAspect="1"/>
          </p:cNvPicPr>
          <p:nvPr/>
        </p:nvPicPr>
        <p:blipFill>
          <a:blip r:embed="rId15"/>
          <a:stretch>
            <a:fillRect/>
          </a:stretch>
        </p:blipFill>
        <p:spPr>
          <a:xfrm>
            <a:off x="-1428750" y="1571625"/>
            <a:ext cx="1047750" cy="704850"/>
          </a:xfrm>
          <a:prstGeom prst="rect">
            <a:avLst/>
          </a:prstGeom>
          <a:noFill/>
        </p:spPr>
      </p:pic>
      <p:pic>
        <p:nvPicPr>
          <p:cNvPr id="16" name="Product Image 10"/>
          <p:cNvPicPr>
            <a:picLocks noChangeAspect="1"/>
          </p:cNvPicPr>
          <p:nvPr/>
        </p:nvPicPr>
        <p:blipFill>
          <a:blip r:embed="rId16"/>
          <a:stretch>
            <a:fillRect/>
          </a:stretch>
        </p:blipFill>
        <p:spPr>
          <a:xfrm>
            <a:off x="-2524125" y="1571625"/>
            <a:ext cx="1047750" cy="704850"/>
          </a:xfrm>
          <a:prstGeom prst="rect">
            <a:avLst/>
          </a:prstGeom>
          <a:noFill/>
        </p:spPr>
      </p:pic>
      <p:pic>
        <p:nvPicPr>
          <p:cNvPr id="17" name="Product Image 11"/>
          <p:cNvPicPr>
            <a:picLocks noChangeAspect="1"/>
          </p:cNvPicPr>
          <p:nvPr/>
        </p:nvPicPr>
        <p:blipFill>
          <a:blip r:embed="rId17"/>
          <a:stretch>
            <a:fillRect/>
          </a:stretch>
        </p:blipFill>
        <p:spPr>
          <a:xfrm>
            <a:off x="-3619500" y="1571625"/>
            <a:ext cx="1047750" cy="704850"/>
          </a:xfrm>
          <a:prstGeom prst="rect">
            <a:avLst/>
          </a:prstGeom>
          <a:noFill/>
        </p:spPr>
      </p:pic>
      <p:pic>
        <p:nvPicPr>
          <p:cNvPr id="18" name="Product Image 12"/>
          <p:cNvPicPr>
            <a:picLocks noChangeAspect="1"/>
          </p:cNvPicPr>
          <p:nvPr/>
        </p:nvPicPr>
        <p:blipFill>
          <a:blip r:embed="rId18"/>
          <a:stretch>
            <a:fillRect/>
          </a:stretch>
        </p:blipFill>
        <p:spPr>
          <a:xfrm>
            <a:off x="-4714875" y="1571625"/>
            <a:ext cx="1047750" cy="762000"/>
          </a:xfrm>
          <a:prstGeom prst="rect">
            <a:avLst/>
          </a:prstGeom>
          <a:noFill/>
        </p:spPr>
      </p:pic>
      <p:pic>
        <p:nvPicPr>
          <p:cNvPr id="19" name="Product Image 13"/>
          <p:cNvPicPr>
            <a:picLocks noChangeAspect="1"/>
          </p:cNvPicPr>
          <p:nvPr/>
        </p:nvPicPr>
        <p:blipFill>
          <a:blip r:embed="rId19"/>
          <a:stretch>
            <a:fillRect/>
          </a:stretch>
        </p:blipFill>
        <p:spPr>
          <a:xfrm>
            <a:off x="-1428750" y="2905126"/>
            <a:ext cx="1047750" cy="695325"/>
          </a:xfrm>
          <a:prstGeom prst="rect">
            <a:avLst/>
          </a:prstGeom>
          <a:noFill/>
        </p:spPr>
      </p:pic>
      <p:sp>
        <p:nvSpPr>
          <p:cNvPr id="20" name="テキスト ボックス 19"/>
          <p:cNvSpPr txBox="1"/>
          <p:nvPr/>
        </p:nvSpPr>
        <p:spPr>
          <a:xfrm>
            <a:off x="1809750" y="3810000"/>
            <a:ext cx="3810000" cy="2667000"/>
          </a:xfrm>
          <a:prstGeom prst="rect">
            <a:avLst/>
          </a:prstGeom>
          <a:solidFill>
            <a:srgbClr val="F7F7F7">
              <a:alpha val="100000"/>
            </a:srgbClr>
          </a:solidFill>
        </p:spPr>
        <p:txBody>
          <a:bodyPr vert="horz" lIns="171450" tIns="238125" rIns="171450" bIns="238125" rtlCol="0" anchorCtr="0">
            <a:noAutofit/>
          </a:bodyPr>
          <a:lstStyle/>
          <a:p>
            <a:pPr fontAlgn="base"/>
            <a:r>
              <a:rPr lang="en-US" sz="900" b="1">
                <a:solidFill>
                  <a:srgbClr val="333333">
                    <a:alpha val="100000"/>
                  </a:srgbClr>
                </a:solidFill>
                <a:latin typeface="Yu Gothic"/>
              </a:rPr>
              <a:t>ミーティングチェア（ロータイプ・BE）</a:t>
            </a:r>
          </a:p>
          <a:p>
            <a:pPr fontAlgn="base"/>
            <a:r>
              <a:rPr lang="en-US" sz="1000" b="1" u="sng">
                <a:solidFill>
                  <a:srgbClr val="333333">
                    <a:alpha val="100000"/>
                  </a:srgbClr>
                </a:solidFill>
                <a:latin typeface="Century Gothic"/>
                <a:hlinkClick r:id="">
                  <a:extLst>
                    <a:ext uri="{A12FA001-AC4F-418D-AE19-62706E023703}">
                      <ahyp:hlinkClr xmlns:ahyp="http://schemas.microsoft.com/office/drawing/2018/hyperlinkcolor" val="tx"/>
                    </a:ext>
                  </a:extLst>
                </a:hlinkClick>
              </a:rPr>
              <a:t>S・CN-H802・AC・LO・BE</a:t>
            </a:r>
          </a:p>
          <a:p>
            <a:pPr fontAlgn="base"/>
            <a:endParaRPr lang="en-US" sz="1000" b="1" u="sng">
              <a:solidFill>
                <a:srgbClr val="333333">
                  <a:alpha val="100000"/>
                </a:srgbClr>
              </a:solidFill>
              <a:latin typeface="Century Gothic"/>
              <a:hlinkClick r:id="">
                <a:extLst>
                  <a:ext uri="{A12FA001-AC4F-418D-AE19-62706E023703}">
                    <ahyp:hlinkClr xmlns:ahyp="http://schemas.microsoft.com/office/drawing/2018/hyperlinkcolor" val="tx"/>
                  </a:ext>
                </a:extLst>
              </a:hlinkClick>
            </a:endParaRPr>
          </a:p>
          <a:p>
            <a:pPr fontAlgn="base"/>
            <a:r>
              <a:rPr lang="en-US" sz="900">
                <a:solidFill>
                  <a:srgbClr val="333333">
                    <a:alpha val="100000"/>
                  </a:srgbClr>
                </a:solidFill>
                <a:latin typeface="Yu Gothic"/>
              </a:rPr>
              <a:t>カラーバリエーション：BE・BK
</a:t>
            </a:r>
          </a:p>
          <a:p>
            <a:pPr fontAlgn="base"/>
            <a:r>
              <a:rPr lang="en-US" sz="900">
                <a:solidFill>
                  <a:srgbClr val="333333">
                    <a:alpha val="100000"/>
                  </a:srgbClr>
                </a:solidFill>
                <a:latin typeface="Yu Gothic"/>
              </a:rPr>
              <a:t>サイズ(mm)：W575・D565・H840~940・SH425~525</a:t>
            </a:r>
          </a:p>
          <a:p>
            <a:pPr fontAlgn="base"/>
            <a:r>
              <a:rPr lang="en-US" sz="900">
                <a:solidFill>
                  <a:srgbClr val="333333">
                    <a:alpha val="100000"/>
                  </a:srgbClr>
                </a:solidFill>
                <a:latin typeface="Yu Gothic"/>
              </a:rPr>
              <a:t>質量：11.4kg</a:t>
            </a:r>
          </a:p>
          <a:p>
            <a:pPr fontAlgn="base"/>
            <a:r>
              <a:rPr lang="en-US" sz="900">
                <a:solidFill>
                  <a:srgbClr val="333333">
                    <a:alpha val="100000"/>
                  </a:srgbClr>
                </a:solidFill>
                <a:latin typeface="Yu Gothic"/>
              </a:rPr>
              <a:t>素材：フレーム：ナイロン
座：モールドウレタン
脚：φ60ウレタンキャスター</a:t>
            </a:r>
          </a:p>
        </p:txBody>
      </p:sp>
      <p:pic>
        <p:nvPicPr>
          <p:cNvPr id="21" name="Color Chip 1"/>
          <p:cNvPicPr>
            <a:picLocks noChangeAspect="1"/>
          </p:cNvPicPr>
          <p:nvPr/>
        </p:nvPicPr>
        <p:blipFill>
          <a:blip r:embed="rId20"/>
          <a:stretch>
            <a:fillRect/>
          </a:stretch>
        </p:blipFill>
        <p:spPr>
          <a:xfrm>
            <a:off x="1990725" y="4686300"/>
            <a:ext cx="133350" cy="133350"/>
          </a:xfrm>
          <a:prstGeom prst="rect">
            <a:avLst/>
          </a:prstGeom>
          <a:noFill/>
        </p:spPr>
      </p:pic>
      <p:pic>
        <p:nvPicPr>
          <p:cNvPr id="22" name="Color Chip 2"/>
          <p:cNvPicPr>
            <a:picLocks noChangeAspect="1"/>
          </p:cNvPicPr>
          <p:nvPr/>
        </p:nvPicPr>
        <p:blipFill>
          <a:blip r:embed="rId21"/>
          <a:stretch>
            <a:fillRect/>
          </a:stretch>
        </p:blipFill>
        <p:spPr>
          <a:xfrm>
            <a:off x="2143125" y="4686300"/>
            <a:ext cx="133350" cy="133350"/>
          </a:xfrm>
          <a:prstGeom prst="rect">
            <a:avLst/>
          </a:prstGeom>
          <a:noFill/>
        </p:spPr>
      </p:pic>
      <p:sp>
        <p:nvSpPr>
          <p:cNvPr id="23" name="テキスト ボックス 22"/>
          <p:cNvSpPr txBox="1"/>
          <p:nvPr/>
        </p:nvSpPr>
        <p:spPr>
          <a:xfrm>
            <a:off x="5715000" y="3810000"/>
            <a:ext cx="952500" cy="338554"/>
          </a:xfrm>
          <a:prstGeom prst="rect">
            <a:avLst/>
          </a:prstGeom>
          <a:noFill/>
        </p:spPr>
        <p:txBody>
          <a:bodyPr vert="horz" lIns="91440" tIns="45720" rIns="91440" bIns="45720" rtlCol="0" anchorCtr="0">
            <a:spAutoFit/>
          </a:bodyPr>
          <a:lstStyle/>
          <a:p>
            <a:pPr fontAlgn="base"/>
            <a:r>
              <a:rPr lang="en-US" sz="1600">
                <a:solidFill>
                  <a:srgbClr val="333333">
                    <a:alpha val="100000"/>
                  </a:srgbClr>
                </a:solidFill>
                <a:latin typeface="Century Gothic"/>
              </a:rPr>
              <a:t>Point</a:t>
            </a:r>
          </a:p>
        </p:txBody>
      </p:sp>
      <p:cxnSp>
        <p:nvCxnSpPr>
          <p:cNvPr id="24" name="直線コネクタ 23"/>
          <p:cNvCxnSpPr/>
          <p:nvPr/>
        </p:nvCxnSpPr>
        <p:spPr>
          <a:xfrm>
            <a:off x="5715000" y="4095751"/>
            <a:ext cx="4667250" cy="9525"/>
          </a:xfrm>
          <a:prstGeom prst="line">
            <a:avLst/>
          </a:prstGeom>
          <a:ln w="9525" cap="flat" cmpd="sng" algn="ctr">
            <a:solidFill>
              <a:srgbClr val="000000">
                <a:alpha val="100000"/>
              </a:srgbClr>
            </a:solidFill>
            <a:prstDash val="solid"/>
            <a:round/>
            <a:headEnd type="none" w="med" len="med"/>
            <a:tailEnd type="none" w="med" len="med"/>
          </a:ln>
        </p:spPr>
      </p:cxnSp>
      <p:pic>
        <p:nvPicPr>
          <p:cNvPr id="25" name="Particular Point Image 1"/>
          <p:cNvPicPr>
            <a:picLocks noChangeAspect="1"/>
          </p:cNvPicPr>
          <p:nvPr/>
        </p:nvPicPr>
        <p:blipFill>
          <a:blip r:embed="rId22"/>
          <a:stretch>
            <a:fillRect/>
          </a:stretch>
        </p:blipFill>
        <p:spPr>
          <a:xfrm>
            <a:off x="5715001" y="4191000"/>
            <a:ext cx="1514475" cy="1009650"/>
          </a:xfrm>
          <a:prstGeom prst="rect">
            <a:avLst/>
          </a:prstGeom>
          <a:noFill/>
        </p:spPr>
      </p:pic>
      <p:sp>
        <p:nvSpPr>
          <p:cNvPr id="26" name="テキスト ボックス 25"/>
          <p:cNvSpPr txBox="1"/>
          <p:nvPr/>
        </p:nvSpPr>
        <p:spPr>
          <a:xfrm>
            <a:off x="5715000" y="5295901"/>
            <a:ext cx="1524000" cy="507831"/>
          </a:xfrm>
          <a:prstGeom prst="rect">
            <a:avLst/>
          </a:prstGeom>
          <a:noFill/>
        </p:spPr>
        <p:txBody>
          <a:bodyPr vert="horz" lIns="91440" tIns="45720" rIns="91440" bIns="45720" rtlCol="0" anchorCtr="0">
            <a:spAutoFit/>
          </a:bodyPr>
          <a:lstStyle/>
          <a:p>
            <a:pPr fontAlgn="base"/>
            <a:r>
              <a:rPr lang="en-US" sz="900">
                <a:solidFill>
                  <a:srgbClr val="333333">
                    <a:alpha val="100000"/>
                  </a:srgbClr>
                </a:solidFill>
                <a:latin typeface="Yu Gothic"/>
              </a:rPr>
              <a:t>目を引く背もたれのデザインが軽やかさを演出します。</a:t>
            </a:r>
          </a:p>
        </p:txBody>
      </p:sp>
    </p:spTree>
    <p:extLst>
      <p:ext uri="{BB962C8B-B14F-4D97-AF65-F5344CB8AC3E}">
        <p14:creationId xmlns:p14="http://schemas.microsoft.com/office/powerpoint/2010/main" val="29070750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285750" y="190500"/>
          <a:ext cx="8858250" cy="6477000"/>
          <a:chOff x="285750" y="190500"/>
          <a:chExt cx="8858250" cy="6477000"/>
        </a:xfrm>
      </p:grpSpPr>
      <p:sp>
        <p:nvSpPr>
          <p:cNvPr id="2" name="テキスト ボックス 1"/>
          <p:cNvSpPr txBox="1"/>
          <p:nvPr/>
        </p:nvSpPr>
        <p:spPr>
          <a:xfrm>
            <a:off x="1809750" y="190500"/>
            <a:ext cx="5715000" cy="400110"/>
          </a:xfrm>
          <a:prstGeom prst="rect">
            <a:avLst/>
          </a:prstGeom>
          <a:noFill/>
        </p:spPr>
        <p:txBody>
          <a:bodyPr vert="horz" lIns="91440" tIns="45720" rIns="91440" bIns="45720" rtlCol="0" anchorCtr="0">
            <a:spAutoFit/>
          </a:bodyPr>
          <a:lstStyle/>
          <a:p>
            <a:pPr fontAlgn="base"/>
            <a:r>
              <a:rPr lang="en-US" sz="2000" u="sng">
                <a:solidFill>
                  <a:srgbClr val="333333">
                    <a:alpha val="100000"/>
                  </a:srgbClr>
                </a:solidFill>
                <a:latin typeface="Century Gothic"/>
                <a:hlinkClick r:id="rId2">
                  <a:extLst>
                    <a:ext uri="{A12FA001-AC4F-418D-AE19-62706E023703}">
                      <ahyp:hlinkClr xmlns:ahyp="http://schemas.microsoft.com/office/drawing/2018/hyperlinkcolor" val="tx"/>
                    </a:ext>
                  </a:extLst>
                </a:hlinkClick>
              </a:rPr>
              <a:t>S・CS-482</a:t>
            </a:r>
          </a:p>
        </p:txBody>
      </p:sp>
      <p:pic>
        <p:nvPicPr>
          <p:cNvPr id="3" name="Mark 1"/>
          <p:cNvPicPr>
            <a:picLocks noChangeAspect="1"/>
          </p:cNvPicPr>
          <p:nvPr/>
        </p:nvPicPr>
        <p:blipFill>
          <a:blip r:embed="rId3"/>
          <a:stretch>
            <a:fillRect/>
          </a:stretch>
        </p:blipFill>
        <p:spPr>
          <a:xfrm>
            <a:off x="10210800" y="238125"/>
            <a:ext cx="171450" cy="171450"/>
          </a:xfrm>
          <a:prstGeom prst="rect">
            <a:avLst/>
          </a:prstGeom>
          <a:noFill/>
        </p:spPr>
      </p:pic>
      <p:pic>
        <p:nvPicPr>
          <p:cNvPr id="4" name="Mark 2"/>
          <p:cNvPicPr>
            <a:picLocks noChangeAspect="1"/>
          </p:cNvPicPr>
          <p:nvPr/>
        </p:nvPicPr>
        <p:blipFill>
          <a:blip r:embed="rId4"/>
          <a:stretch>
            <a:fillRect/>
          </a:stretch>
        </p:blipFill>
        <p:spPr>
          <a:xfrm>
            <a:off x="10010776" y="238125"/>
            <a:ext cx="180975" cy="171450"/>
          </a:xfrm>
          <a:prstGeom prst="rect">
            <a:avLst/>
          </a:prstGeom>
          <a:noFill/>
        </p:spPr>
      </p:pic>
      <p:pic>
        <p:nvPicPr>
          <p:cNvPr id="5" name="Product Image 1"/>
          <p:cNvPicPr>
            <a:picLocks noChangeAspect="1"/>
          </p:cNvPicPr>
          <p:nvPr/>
        </p:nvPicPr>
        <p:blipFill>
          <a:blip r:embed="rId5"/>
          <a:stretch>
            <a:fillRect/>
          </a:stretch>
        </p:blipFill>
        <p:spPr>
          <a:xfrm>
            <a:off x="1809750" y="1333500"/>
            <a:ext cx="2095500" cy="2095500"/>
          </a:xfrm>
          <a:prstGeom prst="rect">
            <a:avLst/>
          </a:prstGeom>
          <a:noFill/>
        </p:spPr>
      </p:pic>
      <p:pic>
        <p:nvPicPr>
          <p:cNvPr id="6" name="Product Image 2"/>
          <p:cNvPicPr>
            <a:picLocks noChangeAspect="1"/>
          </p:cNvPicPr>
          <p:nvPr/>
        </p:nvPicPr>
        <p:blipFill>
          <a:blip r:embed="rId6"/>
          <a:stretch>
            <a:fillRect/>
          </a:stretch>
        </p:blipFill>
        <p:spPr>
          <a:xfrm>
            <a:off x="3952876" y="1333500"/>
            <a:ext cx="2085975" cy="1390650"/>
          </a:xfrm>
          <a:prstGeom prst="rect">
            <a:avLst/>
          </a:prstGeom>
          <a:noFill/>
        </p:spPr>
      </p:pic>
      <p:pic>
        <p:nvPicPr>
          <p:cNvPr id="7" name="Product Image 3"/>
          <p:cNvPicPr>
            <a:picLocks noChangeAspect="1"/>
          </p:cNvPicPr>
          <p:nvPr/>
        </p:nvPicPr>
        <p:blipFill>
          <a:blip r:embed="rId7"/>
          <a:stretch>
            <a:fillRect/>
          </a:stretch>
        </p:blipFill>
        <p:spPr>
          <a:xfrm>
            <a:off x="6096001" y="1333500"/>
            <a:ext cx="1571625" cy="2095500"/>
          </a:xfrm>
          <a:prstGeom prst="rect">
            <a:avLst/>
          </a:prstGeom>
          <a:noFill/>
        </p:spPr>
      </p:pic>
      <p:pic>
        <p:nvPicPr>
          <p:cNvPr id="8" name="Product Image 4"/>
          <p:cNvPicPr>
            <a:picLocks noChangeAspect="1"/>
          </p:cNvPicPr>
          <p:nvPr/>
        </p:nvPicPr>
        <p:blipFill>
          <a:blip r:embed="rId8"/>
          <a:stretch>
            <a:fillRect/>
          </a:stretch>
        </p:blipFill>
        <p:spPr>
          <a:xfrm>
            <a:off x="7715250" y="1333500"/>
            <a:ext cx="2095500" cy="2095500"/>
          </a:xfrm>
          <a:prstGeom prst="rect">
            <a:avLst/>
          </a:prstGeom>
          <a:noFill/>
        </p:spPr>
      </p:pic>
      <p:sp>
        <p:nvSpPr>
          <p:cNvPr id="9" name="テキスト ボックス 8"/>
          <p:cNvSpPr txBox="1"/>
          <p:nvPr/>
        </p:nvSpPr>
        <p:spPr>
          <a:xfrm>
            <a:off x="1809750" y="3810000"/>
            <a:ext cx="3810000" cy="2667000"/>
          </a:xfrm>
          <a:prstGeom prst="rect">
            <a:avLst/>
          </a:prstGeom>
          <a:solidFill>
            <a:srgbClr val="F7F7F7">
              <a:alpha val="100000"/>
            </a:srgbClr>
          </a:solidFill>
        </p:spPr>
        <p:txBody>
          <a:bodyPr vert="horz" lIns="171450" tIns="238125" rIns="171450" bIns="238125" rtlCol="0" anchorCtr="0">
            <a:noAutofit/>
          </a:bodyPr>
          <a:lstStyle/>
          <a:p>
            <a:pPr fontAlgn="base"/>
            <a:r>
              <a:rPr lang="en-US" sz="900" b="1">
                <a:solidFill>
                  <a:srgbClr val="333333">
                    <a:alpha val="100000"/>
                  </a:srgbClr>
                </a:solidFill>
                <a:latin typeface="Yu Gothic"/>
              </a:rPr>
              <a:t>ミーティングチェア（BK）</a:t>
            </a:r>
          </a:p>
          <a:p>
            <a:pPr fontAlgn="base"/>
            <a:r>
              <a:rPr lang="en-US" sz="1000" b="1" u="sng">
                <a:solidFill>
                  <a:srgbClr val="333333">
                    <a:alpha val="100000"/>
                  </a:srgbClr>
                </a:solidFill>
                <a:latin typeface="Century Gothic"/>
                <a:hlinkClick r:id="">
                  <a:extLst>
                    <a:ext uri="{A12FA001-AC4F-418D-AE19-62706E023703}">
                      <ahyp:hlinkClr xmlns:ahyp="http://schemas.microsoft.com/office/drawing/2018/hyperlinkcolor" val="tx"/>
                    </a:ext>
                  </a:extLst>
                </a:hlinkClick>
              </a:rPr>
              <a:t>S・CS-482・BK</a:t>
            </a:r>
          </a:p>
          <a:p>
            <a:pPr fontAlgn="base"/>
            <a:endParaRPr lang="en-US" sz="1000" b="1" u="sng">
              <a:solidFill>
                <a:srgbClr val="333333">
                  <a:alpha val="100000"/>
                </a:srgbClr>
              </a:solidFill>
              <a:latin typeface="Century Gothic"/>
              <a:hlinkClick r:id="">
                <a:extLst>
                  <a:ext uri="{A12FA001-AC4F-418D-AE19-62706E023703}">
                    <ahyp:hlinkClr xmlns:ahyp="http://schemas.microsoft.com/office/drawing/2018/hyperlinkcolor" val="tx"/>
                  </a:ext>
                </a:extLst>
              </a:hlinkClick>
            </a:endParaRPr>
          </a:p>
          <a:p>
            <a:pPr fontAlgn="base"/>
            <a:r>
              <a:rPr lang="en-US" sz="900">
                <a:solidFill>
                  <a:srgbClr val="333333">
                    <a:alpha val="100000"/>
                  </a:srgbClr>
                </a:solidFill>
                <a:latin typeface="Yu Gothic"/>
              </a:rPr>
              <a:t>カラーバリエーション：BK・SL
</a:t>
            </a:r>
          </a:p>
          <a:p>
            <a:pPr fontAlgn="base"/>
            <a:r>
              <a:rPr lang="en-US" sz="900">
                <a:solidFill>
                  <a:srgbClr val="333333">
                    <a:alpha val="100000"/>
                  </a:srgbClr>
                </a:solidFill>
                <a:latin typeface="Yu Gothic"/>
              </a:rPr>
              <a:t>サイズ(mm)：W585・D590・H865・SH450</a:t>
            </a:r>
          </a:p>
          <a:p>
            <a:pPr fontAlgn="base"/>
            <a:r>
              <a:rPr lang="en-US" sz="900">
                <a:solidFill>
                  <a:srgbClr val="333333">
                    <a:alpha val="100000"/>
                  </a:srgbClr>
                </a:solidFill>
                <a:latin typeface="Yu Gothic"/>
              </a:rPr>
              <a:t>質量：10kg</a:t>
            </a:r>
          </a:p>
          <a:p>
            <a:pPr fontAlgn="base"/>
            <a:r>
              <a:rPr lang="en-US" sz="900">
                <a:solidFill>
                  <a:srgbClr val="333333">
                    <a:alpha val="100000"/>
                  </a:srgbClr>
                </a:solidFill>
                <a:latin typeface="Yu Gothic"/>
              </a:rPr>
              <a:t>素材：脚：スチール・φ60ナイロンキャスター</a:t>
            </a:r>
          </a:p>
          <a:p>
            <a:pPr fontAlgn="base"/>
            <a:r>
              <a:rPr lang="en-US" sz="800">
                <a:solidFill>
                  <a:srgbClr val="7F7F7F">
                    <a:alpha val="100000"/>
                  </a:srgbClr>
                </a:solidFill>
                <a:latin typeface="Yu Gothic"/>
              </a:rPr>
              <a:t>
※Aランク張地対応不可
※製品の仕様上、対応できない張地がございます。
※回転機能なし</a:t>
            </a:r>
          </a:p>
        </p:txBody>
      </p:sp>
      <p:pic>
        <p:nvPicPr>
          <p:cNvPr id="10" name="Color Chip 1"/>
          <p:cNvPicPr>
            <a:picLocks noChangeAspect="1"/>
          </p:cNvPicPr>
          <p:nvPr/>
        </p:nvPicPr>
        <p:blipFill>
          <a:blip r:embed="rId9"/>
          <a:stretch>
            <a:fillRect/>
          </a:stretch>
        </p:blipFill>
        <p:spPr>
          <a:xfrm>
            <a:off x="1990726" y="4686301"/>
            <a:ext cx="142875" cy="142875"/>
          </a:xfrm>
          <a:prstGeom prst="rect">
            <a:avLst/>
          </a:prstGeom>
          <a:noFill/>
        </p:spPr>
      </p:pic>
      <p:pic>
        <p:nvPicPr>
          <p:cNvPr id="11" name="Color Chip 2"/>
          <p:cNvPicPr>
            <a:picLocks noChangeAspect="1"/>
          </p:cNvPicPr>
          <p:nvPr/>
        </p:nvPicPr>
        <p:blipFill>
          <a:blip r:embed="rId10"/>
          <a:stretch>
            <a:fillRect/>
          </a:stretch>
        </p:blipFill>
        <p:spPr>
          <a:xfrm>
            <a:off x="2152651" y="4686301"/>
            <a:ext cx="142875" cy="142875"/>
          </a:xfrm>
          <a:prstGeom prst="rect">
            <a:avLst/>
          </a:prstGeom>
          <a:noFill/>
        </p:spPr>
      </p:pic>
      <p:sp>
        <p:nvSpPr>
          <p:cNvPr id="12" name="テキスト ボックス 11"/>
          <p:cNvSpPr txBox="1"/>
          <p:nvPr/>
        </p:nvSpPr>
        <p:spPr>
          <a:xfrm>
            <a:off x="5715000" y="3810000"/>
            <a:ext cx="952500" cy="338554"/>
          </a:xfrm>
          <a:prstGeom prst="rect">
            <a:avLst/>
          </a:prstGeom>
          <a:noFill/>
        </p:spPr>
        <p:txBody>
          <a:bodyPr vert="horz" lIns="91440" tIns="45720" rIns="91440" bIns="45720" rtlCol="0" anchorCtr="0">
            <a:spAutoFit/>
          </a:bodyPr>
          <a:lstStyle/>
          <a:p>
            <a:pPr fontAlgn="base"/>
            <a:r>
              <a:rPr lang="en-US" sz="1600">
                <a:solidFill>
                  <a:srgbClr val="333333">
                    <a:alpha val="100000"/>
                  </a:srgbClr>
                </a:solidFill>
                <a:latin typeface="Century Gothic"/>
              </a:rPr>
              <a:t>Point</a:t>
            </a:r>
          </a:p>
        </p:txBody>
      </p:sp>
      <p:cxnSp>
        <p:nvCxnSpPr>
          <p:cNvPr id="13" name="直線コネクタ 12"/>
          <p:cNvCxnSpPr/>
          <p:nvPr/>
        </p:nvCxnSpPr>
        <p:spPr>
          <a:xfrm>
            <a:off x="5715000" y="4095751"/>
            <a:ext cx="4667250" cy="9525"/>
          </a:xfrm>
          <a:prstGeom prst="line">
            <a:avLst/>
          </a:prstGeom>
          <a:ln w="9525" cap="flat" cmpd="sng" algn="ctr">
            <a:solidFill>
              <a:srgbClr val="000000">
                <a:alpha val="100000"/>
              </a:srgbClr>
            </a:solidFill>
            <a:prstDash val="solid"/>
            <a:round/>
            <a:headEnd type="none" w="med" len="med"/>
            <a:tailEnd type="none" w="med" len="med"/>
          </a:ln>
        </p:spPr>
      </p:cxnSp>
      <p:pic>
        <p:nvPicPr>
          <p:cNvPr id="14" name="Particular Point Image 1"/>
          <p:cNvPicPr>
            <a:picLocks noChangeAspect="1"/>
          </p:cNvPicPr>
          <p:nvPr/>
        </p:nvPicPr>
        <p:blipFill>
          <a:blip r:embed="rId11"/>
          <a:stretch>
            <a:fillRect/>
          </a:stretch>
        </p:blipFill>
        <p:spPr>
          <a:xfrm>
            <a:off x="5715001" y="4191000"/>
            <a:ext cx="1514475" cy="1009650"/>
          </a:xfrm>
          <a:prstGeom prst="rect">
            <a:avLst/>
          </a:prstGeom>
          <a:noFill/>
        </p:spPr>
      </p:pic>
      <p:sp>
        <p:nvSpPr>
          <p:cNvPr id="15" name="テキスト ボックス 14"/>
          <p:cNvSpPr txBox="1"/>
          <p:nvPr/>
        </p:nvSpPr>
        <p:spPr>
          <a:xfrm>
            <a:off x="5715000" y="5295900"/>
            <a:ext cx="1524000" cy="784830"/>
          </a:xfrm>
          <a:prstGeom prst="rect">
            <a:avLst/>
          </a:prstGeom>
          <a:noFill/>
        </p:spPr>
        <p:txBody>
          <a:bodyPr vert="horz" lIns="91440" tIns="45720" rIns="91440" bIns="45720" rtlCol="0" anchorCtr="0">
            <a:spAutoFit/>
          </a:bodyPr>
          <a:lstStyle/>
          <a:p>
            <a:pPr fontAlgn="base"/>
            <a:r>
              <a:rPr lang="en-US" sz="900">
                <a:solidFill>
                  <a:srgbClr val="333333">
                    <a:alpha val="100000"/>
                  </a:srgbClr>
                </a:solidFill>
                <a:latin typeface="Yu Gothic"/>
              </a:rPr>
              <a:t>360度どこから見ても丸みを帯びたデザインがやさしい雰囲気を作り出すシェルタイプのチェアです。</a:t>
            </a:r>
          </a:p>
        </p:txBody>
      </p:sp>
    </p:spTree>
    <p:extLst>
      <p:ext uri="{BB962C8B-B14F-4D97-AF65-F5344CB8AC3E}">
        <p14:creationId xmlns:p14="http://schemas.microsoft.com/office/powerpoint/2010/main" val="3411604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285750" y="190500"/>
          <a:ext cx="8858250" cy="6477000"/>
          <a:chOff x="285750" y="190500"/>
          <a:chExt cx="8858250" cy="6477000"/>
        </a:xfrm>
      </p:grpSpPr>
      <p:sp>
        <p:nvSpPr>
          <p:cNvPr id="2" name="テキスト ボックス 1"/>
          <p:cNvSpPr txBox="1"/>
          <p:nvPr/>
        </p:nvSpPr>
        <p:spPr>
          <a:xfrm>
            <a:off x="1809750" y="190500"/>
            <a:ext cx="5715000" cy="400110"/>
          </a:xfrm>
          <a:prstGeom prst="rect">
            <a:avLst/>
          </a:prstGeom>
          <a:noFill/>
        </p:spPr>
        <p:txBody>
          <a:bodyPr vert="horz" lIns="91440" tIns="45720" rIns="91440" bIns="45720" rtlCol="0" anchorCtr="0">
            <a:spAutoFit/>
          </a:bodyPr>
          <a:lstStyle/>
          <a:p>
            <a:pPr fontAlgn="base"/>
            <a:r>
              <a:rPr lang="en-US" sz="2000" u="sng">
                <a:solidFill>
                  <a:srgbClr val="333333">
                    <a:alpha val="100000"/>
                  </a:srgbClr>
                </a:solidFill>
                <a:latin typeface="Century Gothic"/>
                <a:hlinkClick r:id="rId2">
                  <a:extLst>
                    <a:ext uri="{A12FA001-AC4F-418D-AE19-62706E023703}">
                      <ahyp:hlinkClr xmlns:ahyp="http://schemas.microsoft.com/office/drawing/2018/hyperlinkcolor" val="tx"/>
                    </a:ext>
                  </a:extLst>
                </a:hlinkClick>
              </a:rPr>
              <a:t>S・TT-G774A/S・LS-G774A</a:t>
            </a:r>
          </a:p>
        </p:txBody>
      </p:sp>
      <p:sp>
        <p:nvSpPr>
          <p:cNvPr id="3" name="テキスト ボックス 2"/>
          <p:cNvSpPr txBox="1"/>
          <p:nvPr/>
        </p:nvSpPr>
        <p:spPr>
          <a:xfrm>
            <a:off x="1809750" y="571501"/>
            <a:ext cx="8572500" cy="430887"/>
          </a:xfrm>
          <a:prstGeom prst="rect">
            <a:avLst/>
          </a:prstGeom>
          <a:noFill/>
        </p:spPr>
        <p:txBody>
          <a:bodyPr vert="horz" lIns="91440" tIns="45720" rIns="91440" bIns="45720" rtlCol="0" anchorCtr="0">
            <a:spAutoFit/>
          </a:bodyPr>
          <a:lstStyle/>
          <a:p>
            <a:pPr fontAlgn="base"/>
            <a:r>
              <a:rPr lang="en-US" sz="1100" b="1">
                <a:solidFill>
                  <a:srgbClr val="333333">
                    <a:alpha val="100000"/>
                  </a:srgbClr>
                </a:solidFill>
                <a:latin typeface="Yu Gothic"/>
              </a:rPr>
              <a:t>空間のシンボルとなるような多角形デスク。
執務空間を画一性から解放し、“チーム”と“個”の働き方を両立するデスクです。</a:t>
            </a:r>
          </a:p>
        </p:txBody>
      </p:sp>
      <p:pic>
        <p:nvPicPr>
          <p:cNvPr id="4" name="Product Image 1"/>
          <p:cNvPicPr>
            <a:picLocks noChangeAspect="1"/>
          </p:cNvPicPr>
          <p:nvPr/>
        </p:nvPicPr>
        <p:blipFill>
          <a:blip r:embed="rId3"/>
          <a:stretch>
            <a:fillRect/>
          </a:stretch>
        </p:blipFill>
        <p:spPr>
          <a:xfrm>
            <a:off x="1809750" y="1333500"/>
            <a:ext cx="2095500" cy="2095500"/>
          </a:xfrm>
          <a:prstGeom prst="rect">
            <a:avLst/>
          </a:prstGeom>
          <a:noFill/>
        </p:spPr>
      </p:pic>
      <p:pic>
        <p:nvPicPr>
          <p:cNvPr id="5" name="Product Image 2"/>
          <p:cNvPicPr>
            <a:picLocks noChangeAspect="1"/>
          </p:cNvPicPr>
          <p:nvPr/>
        </p:nvPicPr>
        <p:blipFill>
          <a:blip r:embed="rId4"/>
          <a:stretch>
            <a:fillRect/>
          </a:stretch>
        </p:blipFill>
        <p:spPr>
          <a:xfrm>
            <a:off x="3952875" y="1333500"/>
            <a:ext cx="2095500" cy="2095500"/>
          </a:xfrm>
          <a:prstGeom prst="rect">
            <a:avLst/>
          </a:prstGeom>
          <a:noFill/>
        </p:spPr>
      </p:pic>
      <p:pic>
        <p:nvPicPr>
          <p:cNvPr id="6" name="Product Image 3"/>
          <p:cNvPicPr>
            <a:picLocks noChangeAspect="1"/>
          </p:cNvPicPr>
          <p:nvPr/>
        </p:nvPicPr>
        <p:blipFill>
          <a:blip r:embed="rId5"/>
          <a:stretch>
            <a:fillRect/>
          </a:stretch>
        </p:blipFill>
        <p:spPr>
          <a:xfrm>
            <a:off x="6096001" y="1333500"/>
            <a:ext cx="2085975" cy="1409700"/>
          </a:xfrm>
          <a:prstGeom prst="rect">
            <a:avLst/>
          </a:prstGeom>
          <a:noFill/>
        </p:spPr>
      </p:pic>
      <p:sp>
        <p:nvSpPr>
          <p:cNvPr id="7" name="テキスト ボックス 6"/>
          <p:cNvSpPr txBox="1"/>
          <p:nvPr/>
        </p:nvSpPr>
        <p:spPr>
          <a:xfrm>
            <a:off x="1809750" y="3810000"/>
            <a:ext cx="3810000" cy="2667000"/>
          </a:xfrm>
          <a:prstGeom prst="rect">
            <a:avLst/>
          </a:prstGeom>
          <a:solidFill>
            <a:srgbClr val="F7F7F7">
              <a:alpha val="100000"/>
            </a:srgbClr>
          </a:solidFill>
        </p:spPr>
        <p:txBody>
          <a:bodyPr vert="horz" lIns="171450" tIns="238125" rIns="171450" bIns="238125" rtlCol="0" anchorCtr="0">
            <a:noAutofit/>
          </a:bodyPr>
          <a:lstStyle/>
          <a:p>
            <a:pPr fontAlgn="base"/>
            <a:r>
              <a:rPr lang="en-US" sz="900" b="1">
                <a:solidFill>
                  <a:srgbClr val="333333">
                    <a:alpha val="100000"/>
                  </a:srgbClr>
                </a:solidFill>
                <a:latin typeface="Yu Gothic"/>
              </a:rPr>
              <a:t>デスク 突板（パネルあり・船底・OM）</a:t>
            </a:r>
          </a:p>
          <a:p>
            <a:pPr fontAlgn="base"/>
            <a:r>
              <a:rPr lang="en-US" sz="1000" b="1" u="sng">
                <a:solidFill>
                  <a:srgbClr val="333333">
                    <a:alpha val="100000"/>
                  </a:srgbClr>
                </a:solidFill>
                <a:latin typeface="Century Gothic"/>
                <a:hlinkClick r:id="">
                  <a:extLst>
                    <a:ext uri="{A12FA001-AC4F-418D-AE19-62706E023703}">
                      <ahyp:hlinkClr xmlns:ahyp="http://schemas.microsoft.com/office/drawing/2018/hyperlinkcolor" val="tx"/>
                    </a:ext>
                  </a:extLst>
                </a:hlinkClick>
              </a:rPr>
              <a:t>S・TT-G774A・B・TA・OM/S・LS-G774A・B・BK/S・OA-G774・MA/S・OS-G774A・TP</a:t>
            </a:r>
          </a:p>
          <a:p>
            <a:pPr fontAlgn="base"/>
            <a:endParaRPr lang="en-US" sz="1000" b="1" u="sng">
              <a:solidFill>
                <a:srgbClr val="333333">
                  <a:alpha val="100000"/>
                </a:srgbClr>
              </a:solidFill>
              <a:latin typeface="Century Gothic"/>
              <a:hlinkClick r:id="">
                <a:extLst>
                  <a:ext uri="{A12FA001-AC4F-418D-AE19-62706E023703}">
                    <ahyp:hlinkClr xmlns:ahyp="http://schemas.microsoft.com/office/drawing/2018/hyperlinkcolor" val="tx"/>
                  </a:ext>
                </a:extLst>
              </a:hlinkClick>
            </a:endParaRPr>
          </a:p>
          <a:p>
            <a:pPr fontAlgn="base"/>
            <a:r>
              <a:rPr lang="en-US" sz="900">
                <a:solidFill>
                  <a:srgbClr val="333333">
                    <a:alpha val="100000"/>
                  </a:srgbClr>
                </a:solidFill>
                <a:latin typeface="Yu Gothic"/>
              </a:rPr>
              <a:t>カラーバリエーション：TNA・TBR・OM・OV・WNV・PWH・OBK
</a:t>
            </a:r>
          </a:p>
          <a:p>
            <a:pPr fontAlgn="base"/>
            <a:r>
              <a:rPr lang="en-US" sz="900">
                <a:solidFill>
                  <a:srgbClr val="333333">
                    <a:alpha val="100000"/>
                  </a:srgbClr>
                </a:solidFill>
                <a:latin typeface="Yu Gothic"/>
              </a:rPr>
              <a:t>サイズ(mm)：φ3000・H1135</a:t>
            </a:r>
          </a:p>
        </p:txBody>
      </p:sp>
      <p:pic>
        <p:nvPicPr>
          <p:cNvPr id="8" name="Color Chip 1"/>
          <p:cNvPicPr>
            <a:picLocks noChangeAspect="1"/>
          </p:cNvPicPr>
          <p:nvPr/>
        </p:nvPicPr>
        <p:blipFill>
          <a:blip r:embed="rId6"/>
          <a:stretch>
            <a:fillRect/>
          </a:stretch>
        </p:blipFill>
        <p:spPr>
          <a:xfrm>
            <a:off x="1990726" y="4829176"/>
            <a:ext cx="142875" cy="142875"/>
          </a:xfrm>
          <a:prstGeom prst="rect">
            <a:avLst/>
          </a:prstGeom>
          <a:noFill/>
        </p:spPr>
      </p:pic>
      <p:pic>
        <p:nvPicPr>
          <p:cNvPr id="9" name="Color Chip 2"/>
          <p:cNvPicPr>
            <a:picLocks noChangeAspect="1"/>
          </p:cNvPicPr>
          <p:nvPr/>
        </p:nvPicPr>
        <p:blipFill>
          <a:blip r:embed="rId7"/>
          <a:stretch>
            <a:fillRect/>
          </a:stretch>
        </p:blipFill>
        <p:spPr>
          <a:xfrm>
            <a:off x="2152651" y="4829176"/>
            <a:ext cx="142875" cy="142875"/>
          </a:xfrm>
          <a:prstGeom prst="rect">
            <a:avLst/>
          </a:prstGeom>
          <a:noFill/>
        </p:spPr>
      </p:pic>
      <p:pic>
        <p:nvPicPr>
          <p:cNvPr id="10" name="Color Chip 3"/>
          <p:cNvPicPr>
            <a:picLocks noChangeAspect="1"/>
          </p:cNvPicPr>
          <p:nvPr/>
        </p:nvPicPr>
        <p:blipFill>
          <a:blip r:embed="rId8"/>
          <a:stretch>
            <a:fillRect/>
          </a:stretch>
        </p:blipFill>
        <p:spPr>
          <a:xfrm>
            <a:off x="2314576" y="4829176"/>
            <a:ext cx="142875" cy="142875"/>
          </a:xfrm>
          <a:prstGeom prst="rect">
            <a:avLst/>
          </a:prstGeom>
          <a:noFill/>
        </p:spPr>
      </p:pic>
      <p:pic>
        <p:nvPicPr>
          <p:cNvPr id="11" name="Color Chip 4"/>
          <p:cNvPicPr>
            <a:picLocks noChangeAspect="1"/>
          </p:cNvPicPr>
          <p:nvPr/>
        </p:nvPicPr>
        <p:blipFill>
          <a:blip r:embed="rId9"/>
          <a:stretch>
            <a:fillRect/>
          </a:stretch>
        </p:blipFill>
        <p:spPr>
          <a:xfrm>
            <a:off x="2476501" y="4829176"/>
            <a:ext cx="142875" cy="142875"/>
          </a:xfrm>
          <a:prstGeom prst="rect">
            <a:avLst/>
          </a:prstGeom>
          <a:noFill/>
        </p:spPr>
      </p:pic>
      <p:pic>
        <p:nvPicPr>
          <p:cNvPr id="12" name="Color Chip 5"/>
          <p:cNvPicPr>
            <a:picLocks noChangeAspect="1"/>
          </p:cNvPicPr>
          <p:nvPr/>
        </p:nvPicPr>
        <p:blipFill>
          <a:blip r:embed="rId10"/>
          <a:stretch>
            <a:fillRect/>
          </a:stretch>
        </p:blipFill>
        <p:spPr>
          <a:xfrm>
            <a:off x="2638426" y="4829176"/>
            <a:ext cx="142875" cy="142875"/>
          </a:xfrm>
          <a:prstGeom prst="rect">
            <a:avLst/>
          </a:prstGeom>
          <a:noFill/>
        </p:spPr>
      </p:pic>
      <p:pic>
        <p:nvPicPr>
          <p:cNvPr id="13" name="Color Chip 6"/>
          <p:cNvPicPr>
            <a:picLocks noChangeAspect="1"/>
          </p:cNvPicPr>
          <p:nvPr/>
        </p:nvPicPr>
        <p:blipFill>
          <a:blip r:embed="rId11"/>
          <a:stretch>
            <a:fillRect/>
          </a:stretch>
        </p:blipFill>
        <p:spPr>
          <a:xfrm>
            <a:off x="2800351" y="4829176"/>
            <a:ext cx="142875" cy="142875"/>
          </a:xfrm>
          <a:prstGeom prst="rect">
            <a:avLst/>
          </a:prstGeom>
          <a:noFill/>
        </p:spPr>
      </p:pic>
      <p:pic>
        <p:nvPicPr>
          <p:cNvPr id="14" name="Color Chip 7"/>
          <p:cNvPicPr>
            <a:picLocks noChangeAspect="1"/>
          </p:cNvPicPr>
          <p:nvPr/>
        </p:nvPicPr>
        <p:blipFill>
          <a:blip r:embed="rId12"/>
          <a:stretch>
            <a:fillRect/>
          </a:stretch>
        </p:blipFill>
        <p:spPr>
          <a:xfrm>
            <a:off x="2962276" y="4829176"/>
            <a:ext cx="142875" cy="142875"/>
          </a:xfrm>
          <a:prstGeom prst="rect">
            <a:avLst/>
          </a:prstGeom>
          <a:noFill/>
        </p:spPr>
      </p:pic>
    </p:spTree>
    <p:extLst>
      <p:ext uri="{BB962C8B-B14F-4D97-AF65-F5344CB8AC3E}">
        <p14:creationId xmlns:p14="http://schemas.microsoft.com/office/powerpoint/2010/main" val="41186704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285750" y="95250"/>
          <a:ext cx="8858250" cy="6334125"/>
          <a:chOff x="285750" y="95250"/>
          <a:chExt cx="8858250" cy="6334125"/>
        </a:xfrm>
      </p:grpSpPr>
      <p:sp>
        <p:nvSpPr>
          <p:cNvPr id="2" name="テキスト ボックス 1"/>
          <p:cNvSpPr txBox="1"/>
          <p:nvPr/>
        </p:nvSpPr>
        <p:spPr>
          <a:xfrm>
            <a:off x="1809750" y="190500"/>
            <a:ext cx="1619250" cy="369332"/>
          </a:xfrm>
          <a:prstGeom prst="rect">
            <a:avLst/>
          </a:prstGeom>
          <a:noFill/>
        </p:spPr>
        <p:txBody>
          <a:bodyPr vert="horz" lIns="91440" tIns="45720" rIns="91440" bIns="45720" rtlCol="0" anchorCtr="0">
            <a:spAutoFit/>
          </a:bodyPr>
          <a:lstStyle/>
          <a:p>
            <a:pPr fontAlgn="base"/>
            <a:r>
              <a:rPr lang="en-US" b="1">
                <a:solidFill>
                  <a:srgbClr val="0C0C0C">
                    <a:alpha val="100000"/>
                  </a:srgbClr>
                </a:solidFill>
                <a:latin typeface="Yu Gothic"/>
              </a:rPr>
              <a:t>詳細スペック</a:t>
            </a:r>
          </a:p>
        </p:txBody>
      </p:sp>
      <p:sp>
        <p:nvSpPr>
          <p:cNvPr id="3" name="テキスト ボックス 2"/>
          <p:cNvSpPr txBox="1"/>
          <p:nvPr/>
        </p:nvSpPr>
        <p:spPr>
          <a:xfrm>
            <a:off x="3429000" y="209551"/>
            <a:ext cx="3810000" cy="307777"/>
          </a:xfrm>
          <a:prstGeom prst="rect">
            <a:avLst/>
          </a:prstGeom>
          <a:noFill/>
        </p:spPr>
        <p:txBody>
          <a:bodyPr vert="horz" lIns="91440" tIns="45720" rIns="91440" bIns="45720" rtlCol="0" anchorCtr="0">
            <a:spAutoFit/>
          </a:bodyPr>
          <a:lstStyle/>
          <a:p>
            <a:pPr fontAlgn="base"/>
            <a:r>
              <a:rPr lang="en-US" sz="1400" u="sng">
                <a:solidFill>
                  <a:srgbClr val="333333">
                    <a:alpha val="100000"/>
                  </a:srgbClr>
                </a:solidFill>
                <a:latin typeface="Century Gothic"/>
                <a:hlinkClick r:id="rId2">
                  <a:extLst>
                    <a:ext uri="{A12FA001-AC4F-418D-AE19-62706E023703}">
                      <ahyp:hlinkClr xmlns:ahyp="http://schemas.microsoft.com/office/drawing/2018/hyperlinkcolor" val="tx"/>
                    </a:ext>
                  </a:extLst>
                </a:hlinkClick>
              </a:rPr>
              <a:t>S・TT-G774A/S・LS-G774A</a:t>
            </a:r>
          </a:p>
        </p:txBody>
      </p:sp>
      <p:sp>
        <p:nvSpPr>
          <p:cNvPr id="4" name="テキスト ボックス 3"/>
          <p:cNvSpPr txBox="1"/>
          <p:nvPr/>
        </p:nvSpPr>
        <p:spPr>
          <a:xfrm>
            <a:off x="1809750" y="523875"/>
            <a:ext cx="6667500" cy="215444"/>
          </a:xfrm>
          <a:prstGeom prst="rect">
            <a:avLst/>
          </a:prstGeom>
          <a:noFill/>
        </p:spPr>
        <p:txBody>
          <a:bodyPr vert="horz" lIns="91440" tIns="45720" rIns="91440" bIns="45720" rtlCol="0" anchorCtr="0">
            <a:spAutoFit/>
          </a:bodyPr>
          <a:lstStyle/>
          <a:p>
            <a:pPr fontAlgn="base"/>
            <a:r>
              <a:rPr lang="en-US" sz="800" b="1">
                <a:solidFill>
                  <a:srgbClr val="B12704">
                    <a:alpha val="100000"/>
                  </a:srgbClr>
                </a:solidFill>
                <a:latin typeface="Yu Gothic"/>
              </a:rPr>
              <a:t>※必ず以下のセットでご注文ください</a:t>
            </a:r>
          </a:p>
        </p:txBody>
      </p:sp>
      <p:pic>
        <p:nvPicPr>
          <p:cNvPr id="5" name="Product Image 4"/>
          <p:cNvPicPr>
            <a:picLocks noChangeAspect="1"/>
          </p:cNvPicPr>
          <p:nvPr/>
        </p:nvPicPr>
        <p:blipFill>
          <a:blip r:embed="rId3"/>
          <a:stretch>
            <a:fillRect/>
          </a:stretch>
        </p:blipFill>
        <p:spPr>
          <a:xfrm>
            <a:off x="9715500" y="95250"/>
            <a:ext cx="666750" cy="666750"/>
          </a:xfrm>
          <a:prstGeom prst="rect">
            <a:avLst/>
          </a:prstGeom>
          <a:noFill/>
        </p:spPr>
      </p:pic>
      <p:sp>
        <p:nvSpPr>
          <p:cNvPr id="6" name="テキスト ボックス 5"/>
          <p:cNvSpPr txBox="1"/>
          <p:nvPr/>
        </p:nvSpPr>
        <p:spPr>
          <a:xfrm>
            <a:off x="1809750" y="857250"/>
            <a:ext cx="2762250" cy="2667000"/>
          </a:xfrm>
          <a:prstGeom prst="rect">
            <a:avLst/>
          </a:prstGeom>
          <a:solidFill>
            <a:srgbClr val="F7F7F7">
              <a:alpha val="100000"/>
            </a:srgbClr>
          </a:solidFill>
        </p:spPr>
        <p:txBody>
          <a:bodyPr vert="horz" lIns="114300" tIns="171450" rIns="114300" bIns="171450" rtlCol="0" anchorCtr="0">
            <a:noAutofit/>
          </a:bodyPr>
          <a:lstStyle/>
          <a:p>
            <a:pPr fontAlgn="base"/>
            <a:r>
              <a:rPr lang="en-US" sz="900" b="1">
                <a:solidFill>
                  <a:srgbClr val="333333">
                    <a:alpha val="100000"/>
                  </a:srgbClr>
                </a:solidFill>
                <a:latin typeface="Yu Gothic"/>
              </a:rPr>
              <a:t>デスク 天板 突板（パネルあり・船底・OM）</a:t>
            </a:r>
          </a:p>
          <a:p>
            <a:pPr fontAlgn="base"/>
            <a:r>
              <a:rPr lang="en-US" sz="1000" b="1">
                <a:solidFill>
                  <a:srgbClr val="333333">
                    <a:alpha val="100000"/>
                  </a:srgbClr>
                </a:solidFill>
                <a:latin typeface="Century Gothic"/>
              </a:rPr>
              <a:t>S・TT-G774A・B・TA・OM</a:t>
            </a:r>
          </a:p>
          <a:p>
            <a:pPr fontAlgn="base"/>
            <a:endParaRPr lang="en-US" sz="1000" b="1">
              <a:solidFill>
                <a:srgbClr val="333333">
                  <a:alpha val="100000"/>
                </a:srgbClr>
              </a:solidFill>
              <a:latin typeface="Century Gothic"/>
            </a:endParaRPr>
          </a:p>
          <a:p>
            <a:pPr fontAlgn="base"/>
            <a:r>
              <a:rPr lang="en-US" sz="900">
                <a:solidFill>
                  <a:srgbClr val="333333">
                    <a:alpha val="100000"/>
                  </a:srgbClr>
                </a:solidFill>
                <a:latin typeface="Yu Gothic"/>
              </a:rPr>
              <a:t>カラーバリエーション：TNA・TBR・OM・OV・WNV・PWH・OBK
</a:t>
            </a:r>
          </a:p>
          <a:p>
            <a:pPr fontAlgn="base"/>
            <a:r>
              <a:rPr lang="en-US" sz="900">
                <a:solidFill>
                  <a:srgbClr val="333333">
                    <a:alpha val="100000"/>
                  </a:srgbClr>
                </a:solidFill>
                <a:latin typeface="Yu Gothic"/>
              </a:rPr>
              <a:t>サイズ(mm)：φ3000・t30</a:t>
            </a:r>
          </a:p>
          <a:p>
            <a:pPr fontAlgn="base"/>
            <a:r>
              <a:rPr lang="en-US" sz="900">
                <a:solidFill>
                  <a:srgbClr val="333333">
                    <a:alpha val="100000"/>
                  </a:srgbClr>
                </a:solidFill>
                <a:latin typeface="Yu Gothic"/>
              </a:rPr>
              <a:t>素材：天板：天然木突板・ウレタン塗装</a:t>
            </a:r>
          </a:p>
          <a:p>
            <a:pPr fontAlgn="base"/>
            <a:r>
              <a:rPr lang="en-US" sz="800">
                <a:solidFill>
                  <a:srgbClr val="7F7F7F">
                    <a:alpha val="100000"/>
                  </a:srgbClr>
                </a:solidFill>
                <a:latin typeface="Yu Gothic"/>
              </a:rPr>
              <a:t>
※脚(S･LS-G774)、パネル(S･OS-G774･TP)、モニターアーム(S･OA-G774･MA)とセットでご注文ください。
※モニター本体及び取付用ボルトは付属されていません。
※適用モニターサイズ：27インチ相当湾曲モニター、24インチ相当平面モニター</a:t>
            </a:r>
          </a:p>
        </p:txBody>
      </p:sp>
      <p:pic>
        <p:nvPicPr>
          <p:cNvPr id="7" name="Color Chip 8"/>
          <p:cNvPicPr>
            <a:picLocks noChangeAspect="1"/>
          </p:cNvPicPr>
          <p:nvPr/>
        </p:nvPicPr>
        <p:blipFill>
          <a:blip r:embed="rId4"/>
          <a:stretch>
            <a:fillRect/>
          </a:stretch>
        </p:blipFill>
        <p:spPr>
          <a:xfrm>
            <a:off x="1924051" y="1781176"/>
            <a:ext cx="142875" cy="142875"/>
          </a:xfrm>
          <a:prstGeom prst="rect">
            <a:avLst/>
          </a:prstGeom>
          <a:noFill/>
        </p:spPr>
      </p:pic>
      <p:pic>
        <p:nvPicPr>
          <p:cNvPr id="8" name="Color Chip 9"/>
          <p:cNvPicPr>
            <a:picLocks noChangeAspect="1"/>
          </p:cNvPicPr>
          <p:nvPr/>
        </p:nvPicPr>
        <p:blipFill>
          <a:blip r:embed="rId5"/>
          <a:stretch>
            <a:fillRect/>
          </a:stretch>
        </p:blipFill>
        <p:spPr>
          <a:xfrm>
            <a:off x="2085976" y="1781176"/>
            <a:ext cx="142875" cy="142875"/>
          </a:xfrm>
          <a:prstGeom prst="rect">
            <a:avLst/>
          </a:prstGeom>
          <a:noFill/>
        </p:spPr>
      </p:pic>
      <p:pic>
        <p:nvPicPr>
          <p:cNvPr id="9" name="Color Chip 10"/>
          <p:cNvPicPr>
            <a:picLocks noChangeAspect="1"/>
          </p:cNvPicPr>
          <p:nvPr/>
        </p:nvPicPr>
        <p:blipFill>
          <a:blip r:embed="rId6"/>
          <a:stretch>
            <a:fillRect/>
          </a:stretch>
        </p:blipFill>
        <p:spPr>
          <a:xfrm>
            <a:off x="2247901" y="1781176"/>
            <a:ext cx="142875" cy="142875"/>
          </a:xfrm>
          <a:prstGeom prst="rect">
            <a:avLst/>
          </a:prstGeom>
          <a:noFill/>
        </p:spPr>
      </p:pic>
      <p:pic>
        <p:nvPicPr>
          <p:cNvPr id="10" name="Color Chip 11"/>
          <p:cNvPicPr>
            <a:picLocks noChangeAspect="1"/>
          </p:cNvPicPr>
          <p:nvPr/>
        </p:nvPicPr>
        <p:blipFill>
          <a:blip r:embed="rId7"/>
          <a:stretch>
            <a:fillRect/>
          </a:stretch>
        </p:blipFill>
        <p:spPr>
          <a:xfrm>
            <a:off x="2409826" y="1781176"/>
            <a:ext cx="142875" cy="142875"/>
          </a:xfrm>
          <a:prstGeom prst="rect">
            <a:avLst/>
          </a:prstGeom>
          <a:noFill/>
        </p:spPr>
      </p:pic>
      <p:pic>
        <p:nvPicPr>
          <p:cNvPr id="11" name="Color Chip 12"/>
          <p:cNvPicPr>
            <a:picLocks noChangeAspect="1"/>
          </p:cNvPicPr>
          <p:nvPr/>
        </p:nvPicPr>
        <p:blipFill>
          <a:blip r:embed="rId8"/>
          <a:stretch>
            <a:fillRect/>
          </a:stretch>
        </p:blipFill>
        <p:spPr>
          <a:xfrm>
            <a:off x="2571751" y="1781176"/>
            <a:ext cx="142875" cy="142875"/>
          </a:xfrm>
          <a:prstGeom prst="rect">
            <a:avLst/>
          </a:prstGeom>
          <a:noFill/>
        </p:spPr>
      </p:pic>
      <p:pic>
        <p:nvPicPr>
          <p:cNvPr id="12" name="Color Chip 13"/>
          <p:cNvPicPr>
            <a:picLocks noChangeAspect="1"/>
          </p:cNvPicPr>
          <p:nvPr/>
        </p:nvPicPr>
        <p:blipFill>
          <a:blip r:embed="rId9"/>
          <a:stretch>
            <a:fillRect/>
          </a:stretch>
        </p:blipFill>
        <p:spPr>
          <a:xfrm>
            <a:off x="2733676" y="1781176"/>
            <a:ext cx="142875" cy="142875"/>
          </a:xfrm>
          <a:prstGeom prst="rect">
            <a:avLst/>
          </a:prstGeom>
          <a:noFill/>
        </p:spPr>
      </p:pic>
      <p:pic>
        <p:nvPicPr>
          <p:cNvPr id="13" name="Color Chip 14"/>
          <p:cNvPicPr>
            <a:picLocks noChangeAspect="1"/>
          </p:cNvPicPr>
          <p:nvPr/>
        </p:nvPicPr>
        <p:blipFill>
          <a:blip r:embed="rId10"/>
          <a:stretch>
            <a:fillRect/>
          </a:stretch>
        </p:blipFill>
        <p:spPr>
          <a:xfrm>
            <a:off x="2895601" y="1781176"/>
            <a:ext cx="142875" cy="142875"/>
          </a:xfrm>
          <a:prstGeom prst="rect">
            <a:avLst/>
          </a:prstGeom>
          <a:noFill/>
        </p:spPr>
      </p:pic>
      <p:pic>
        <p:nvPicPr>
          <p:cNvPr id="14" name="Mark 1"/>
          <p:cNvPicPr>
            <a:picLocks noChangeAspect="1"/>
          </p:cNvPicPr>
          <p:nvPr/>
        </p:nvPicPr>
        <p:blipFill>
          <a:blip r:embed="rId11"/>
          <a:stretch>
            <a:fillRect/>
          </a:stretch>
        </p:blipFill>
        <p:spPr>
          <a:xfrm>
            <a:off x="1905000" y="3209925"/>
            <a:ext cx="171450" cy="171450"/>
          </a:xfrm>
          <a:prstGeom prst="rect">
            <a:avLst/>
          </a:prstGeom>
          <a:noFill/>
        </p:spPr>
      </p:pic>
      <p:pic>
        <p:nvPicPr>
          <p:cNvPr id="15" name="Mark 2"/>
          <p:cNvPicPr>
            <a:picLocks noChangeAspect="1"/>
          </p:cNvPicPr>
          <p:nvPr/>
        </p:nvPicPr>
        <p:blipFill>
          <a:blip r:embed="rId12"/>
          <a:stretch>
            <a:fillRect/>
          </a:stretch>
        </p:blipFill>
        <p:spPr>
          <a:xfrm>
            <a:off x="2095500" y="3209925"/>
            <a:ext cx="171450" cy="171450"/>
          </a:xfrm>
          <a:prstGeom prst="rect">
            <a:avLst/>
          </a:prstGeom>
          <a:noFill/>
        </p:spPr>
      </p:pic>
      <p:pic>
        <p:nvPicPr>
          <p:cNvPr id="16" name="Mark 3"/>
          <p:cNvPicPr>
            <a:picLocks noChangeAspect="1"/>
          </p:cNvPicPr>
          <p:nvPr/>
        </p:nvPicPr>
        <p:blipFill>
          <a:blip r:embed="rId13"/>
          <a:stretch>
            <a:fillRect/>
          </a:stretch>
        </p:blipFill>
        <p:spPr>
          <a:xfrm>
            <a:off x="2286000" y="3209925"/>
            <a:ext cx="171450" cy="171450"/>
          </a:xfrm>
          <a:prstGeom prst="rect">
            <a:avLst/>
          </a:prstGeom>
          <a:noFill/>
        </p:spPr>
      </p:pic>
      <p:pic>
        <p:nvPicPr>
          <p:cNvPr id="17" name="Mark 4"/>
          <p:cNvPicPr>
            <a:picLocks noChangeAspect="1"/>
          </p:cNvPicPr>
          <p:nvPr/>
        </p:nvPicPr>
        <p:blipFill>
          <a:blip r:embed="rId14"/>
          <a:stretch>
            <a:fillRect/>
          </a:stretch>
        </p:blipFill>
        <p:spPr>
          <a:xfrm>
            <a:off x="2476500" y="3209925"/>
            <a:ext cx="171450" cy="171450"/>
          </a:xfrm>
          <a:prstGeom prst="rect">
            <a:avLst/>
          </a:prstGeom>
          <a:noFill/>
        </p:spPr>
      </p:pic>
      <p:pic>
        <p:nvPicPr>
          <p:cNvPr id="18" name="Mark 5"/>
          <p:cNvPicPr>
            <a:picLocks noChangeAspect="1"/>
          </p:cNvPicPr>
          <p:nvPr/>
        </p:nvPicPr>
        <p:blipFill>
          <a:blip r:embed="rId15"/>
          <a:stretch>
            <a:fillRect/>
          </a:stretch>
        </p:blipFill>
        <p:spPr>
          <a:xfrm>
            <a:off x="2667000" y="3209925"/>
            <a:ext cx="171450" cy="171450"/>
          </a:xfrm>
          <a:prstGeom prst="rect">
            <a:avLst/>
          </a:prstGeom>
          <a:noFill/>
        </p:spPr>
      </p:pic>
      <p:sp>
        <p:nvSpPr>
          <p:cNvPr id="19" name="テキスト ボックス 18"/>
          <p:cNvSpPr txBox="1"/>
          <p:nvPr/>
        </p:nvSpPr>
        <p:spPr>
          <a:xfrm>
            <a:off x="4714875" y="857250"/>
            <a:ext cx="2762250" cy="2667000"/>
          </a:xfrm>
          <a:prstGeom prst="rect">
            <a:avLst/>
          </a:prstGeom>
          <a:solidFill>
            <a:srgbClr val="F7F7F7">
              <a:alpha val="100000"/>
            </a:srgbClr>
          </a:solidFill>
        </p:spPr>
        <p:txBody>
          <a:bodyPr vert="horz" lIns="114300" tIns="171450" rIns="114300" bIns="171450" rtlCol="0" anchorCtr="0">
            <a:noAutofit/>
          </a:bodyPr>
          <a:lstStyle/>
          <a:p>
            <a:pPr fontAlgn="base"/>
            <a:r>
              <a:rPr lang="en-US" sz="900" b="1">
                <a:solidFill>
                  <a:srgbClr val="333333">
                    <a:alpha val="100000"/>
                  </a:srgbClr>
                </a:solidFill>
                <a:latin typeface="Yu Gothic"/>
              </a:rPr>
              <a:t>デスク 脚（パネルあり・BK）</a:t>
            </a:r>
          </a:p>
          <a:p>
            <a:pPr fontAlgn="base"/>
            <a:r>
              <a:rPr lang="en-US" sz="1000" b="1">
                <a:solidFill>
                  <a:srgbClr val="333333">
                    <a:alpha val="100000"/>
                  </a:srgbClr>
                </a:solidFill>
                <a:latin typeface="Century Gothic"/>
              </a:rPr>
              <a:t>S・LS-G774A・B・BK</a:t>
            </a:r>
          </a:p>
          <a:p>
            <a:pPr fontAlgn="base"/>
            <a:endParaRPr lang="en-US" sz="1000" b="1">
              <a:solidFill>
                <a:srgbClr val="333333">
                  <a:alpha val="100000"/>
                </a:srgbClr>
              </a:solidFill>
              <a:latin typeface="Century Gothic"/>
            </a:endParaRPr>
          </a:p>
          <a:p>
            <a:pPr fontAlgn="base"/>
            <a:r>
              <a:rPr lang="en-US" sz="900">
                <a:solidFill>
                  <a:srgbClr val="333333">
                    <a:alpha val="100000"/>
                  </a:srgbClr>
                </a:solidFill>
                <a:latin typeface="Yu Gothic"/>
              </a:rPr>
              <a:t>カラーバリエーション：BK
</a:t>
            </a:r>
          </a:p>
          <a:p>
            <a:pPr fontAlgn="base"/>
            <a:r>
              <a:rPr lang="en-US" sz="900">
                <a:solidFill>
                  <a:srgbClr val="333333">
                    <a:alpha val="100000"/>
                  </a:srgbClr>
                </a:solidFill>
                <a:latin typeface="Yu Gothic"/>
              </a:rPr>
              <a:t>サイズ(mm)：φ3000・H1135</a:t>
            </a:r>
          </a:p>
          <a:p>
            <a:pPr fontAlgn="base"/>
            <a:r>
              <a:rPr lang="en-US" sz="900">
                <a:solidFill>
                  <a:srgbClr val="333333">
                    <a:alpha val="100000"/>
                  </a:srgbClr>
                </a:solidFill>
                <a:latin typeface="Yu Gothic"/>
              </a:rPr>
              <a:t>質量：120.5kg</a:t>
            </a:r>
          </a:p>
          <a:p>
            <a:pPr fontAlgn="base"/>
            <a:r>
              <a:rPr lang="en-US" sz="900">
                <a:solidFill>
                  <a:srgbClr val="333333">
                    <a:alpha val="100000"/>
                  </a:srgbClr>
                </a:solidFill>
                <a:latin typeface="Yu Gothic"/>
              </a:rPr>
              <a:t>素材：フレーム：スチール・粉体塗装（ブラック艶消梨地）
配線BOX：スチール・粉体塗装</a:t>
            </a:r>
          </a:p>
          <a:p>
            <a:pPr fontAlgn="base"/>
            <a:r>
              <a:rPr lang="en-US" sz="800">
                <a:solidFill>
                  <a:srgbClr val="7F7F7F">
                    <a:alpha val="100000"/>
                  </a:srgbClr>
                </a:solidFill>
                <a:latin typeface="Yu Gothic"/>
              </a:rPr>
              <a:t>
※天板(S･TT-G774)、パネル(S･OS-G774･TP)、モニターアーム(S･OA-G774･MA)とセットでご注文ください。
※モニター本体及び取付用ボルトは付属されていません。
※適用モニターサイズ：27インチ相当湾曲モニター、24インチ相当平面モニター</a:t>
            </a:r>
          </a:p>
        </p:txBody>
      </p:sp>
      <p:pic>
        <p:nvPicPr>
          <p:cNvPr id="20" name="Color Chip 15"/>
          <p:cNvPicPr>
            <a:picLocks noChangeAspect="1"/>
          </p:cNvPicPr>
          <p:nvPr/>
        </p:nvPicPr>
        <p:blipFill>
          <a:blip r:embed="rId16"/>
          <a:stretch>
            <a:fillRect/>
          </a:stretch>
        </p:blipFill>
        <p:spPr>
          <a:xfrm>
            <a:off x="4829176" y="1638301"/>
            <a:ext cx="142875" cy="142875"/>
          </a:xfrm>
          <a:prstGeom prst="rect">
            <a:avLst/>
          </a:prstGeom>
          <a:noFill/>
        </p:spPr>
      </p:pic>
      <p:pic>
        <p:nvPicPr>
          <p:cNvPr id="21" name="Mark 6"/>
          <p:cNvPicPr>
            <a:picLocks noChangeAspect="1"/>
          </p:cNvPicPr>
          <p:nvPr/>
        </p:nvPicPr>
        <p:blipFill>
          <a:blip r:embed="rId11"/>
          <a:stretch>
            <a:fillRect/>
          </a:stretch>
        </p:blipFill>
        <p:spPr>
          <a:xfrm>
            <a:off x="4810125" y="3209925"/>
            <a:ext cx="171450" cy="171450"/>
          </a:xfrm>
          <a:prstGeom prst="rect">
            <a:avLst/>
          </a:prstGeom>
          <a:noFill/>
        </p:spPr>
      </p:pic>
      <p:pic>
        <p:nvPicPr>
          <p:cNvPr id="22" name="Mark 7"/>
          <p:cNvPicPr>
            <a:picLocks noChangeAspect="1"/>
          </p:cNvPicPr>
          <p:nvPr/>
        </p:nvPicPr>
        <p:blipFill>
          <a:blip r:embed="rId12"/>
          <a:stretch>
            <a:fillRect/>
          </a:stretch>
        </p:blipFill>
        <p:spPr>
          <a:xfrm>
            <a:off x="5000625" y="3209925"/>
            <a:ext cx="171450" cy="171450"/>
          </a:xfrm>
          <a:prstGeom prst="rect">
            <a:avLst/>
          </a:prstGeom>
          <a:noFill/>
        </p:spPr>
      </p:pic>
      <p:pic>
        <p:nvPicPr>
          <p:cNvPr id="23" name="Mark 8"/>
          <p:cNvPicPr>
            <a:picLocks noChangeAspect="1"/>
          </p:cNvPicPr>
          <p:nvPr/>
        </p:nvPicPr>
        <p:blipFill>
          <a:blip r:embed="rId14"/>
          <a:stretch>
            <a:fillRect/>
          </a:stretch>
        </p:blipFill>
        <p:spPr>
          <a:xfrm>
            <a:off x="5191125" y="3209925"/>
            <a:ext cx="171450" cy="171450"/>
          </a:xfrm>
          <a:prstGeom prst="rect">
            <a:avLst/>
          </a:prstGeom>
          <a:noFill/>
        </p:spPr>
      </p:pic>
      <p:pic>
        <p:nvPicPr>
          <p:cNvPr id="24" name="Mark 9"/>
          <p:cNvPicPr>
            <a:picLocks noChangeAspect="1"/>
          </p:cNvPicPr>
          <p:nvPr/>
        </p:nvPicPr>
        <p:blipFill>
          <a:blip r:embed="rId15"/>
          <a:stretch>
            <a:fillRect/>
          </a:stretch>
        </p:blipFill>
        <p:spPr>
          <a:xfrm>
            <a:off x="5381625" y="3209925"/>
            <a:ext cx="171450" cy="171450"/>
          </a:xfrm>
          <a:prstGeom prst="rect">
            <a:avLst/>
          </a:prstGeom>
          <a:noFill/>
        </p:spPr>
      </p:pic>
      <p:sp>
        <p:nvSpPr>
          <p:cNvPr id="25" name="テキスト ボックス 24"/>
          <p:cNvSpPr txBox="1"/>
          <p:nvPr/>
        </p:nvSpPr>
        <p:spPr>
          <a:xfrm>
            <a:off x="7620000" y="857250"/>
            <a:ext cx="2762250" cy="2667000"/>
          </a:xfrm>
          <a:prstGeom prst="rect">
            <a:avLst/>
          </a:prstGeom>
          <a:solidFill>
            <a:srgbClr val="F7F7F7">
              <a:alpha val="100000"/>
            </a:srgbClr>
          </a:solidFill>
        </p:spPr>
        <p:txBody>
          <a:bodyPr vert="horz" lIns="114300" tIns="171450" rIns="114300" bIns="171450" rtlCol="0" anchorCtr="0">
            <a:noAutofit/>
          </a:bodyPr>
          <a:lstStyle/>
          <a:p>
            <a:pPr fontAlgn="base"/>
            <a:r>
              <a:rPr lang="en-US" sz="900" b="1">
                <a:solidFill>
                  <a:srgbClr val="333333">
                    <a:alpha val="100000"/>
                  </a:srgbClr>
                </a:solidFill>
                <a:latin typeface="Yu Gothic"/>
              </a:rPr>
              <a:t>モニターアーム</a:t>
            </a:r>
          </a:p>
          <a:p>
            <a:pPr fontAlgn="base"/>
            <a:r>
              <a:rPr lang="en-US" sz="1000" b="1">
                <a:solidFill>
                  <a:srgbClr val="333333">
                    <a:alpha val="100000"/>
                  </a:srgbClr>
                </a:solidFill>
                <a:latin typeface="Century Gothic"/>
              </a:rPr>
              <a:t>S・OA-G774・MA</a:t>
            </a:r>
          </a:p>
          <a:p>
            <a:pPr fontAlgn="base"/>
            <a:endParaRPr lang="en-US" sz="1000" b="1">
              <a:solidFill>
                <a:srgbClr val="333333">
                  <a:alpha val="100000"/>
                </a:srgbClr>
              </a:solidFill>
              <a:latin typeface="Century Gothic"/>
            </a:endParaRPr>
          </a:p>
          <a:p>
            <a:pPr fontAlgn="base"/>
            <a:r>
              <a:rPr lang="en-US" sz="900">
                <a:solidFill>
                  <a:srgbClr val="333333">
                    <a:alpha val="100000"/>
                  </a:srgbClr>
                </a:solidFill>
                <a:latin typeface="Yu Gothic"/>
              </a:rPr>
              <a:t>サイズ(mm)：W120・D85・H300</a:t>
            </a:r>
          </a:p>
          <a:p>
            <a:pPr fontAlgn="base"/>
            <a:r>
              <a:rPr lang="en-US" sz="900">
                <a:solidFill>
                  <a:srgbClr val="333333">
                    <a:alpha val="100000"/>
                  </a:srgbClr>
                </a:solidFill>
                <a:latin typeface="Yu Gothic"/>
              </a:rPr>
              <a:t>質量：9kg</a:t>
            </a:r>
          </a:p>
          <a:p>
            <a:pPr fontAlgn="base"/>
            <a:r>
              <a:rPr lang="en-US" sz="800">
                <a:solidFill>
                  <a:srgbClr val="7F7F7F">
                    <a:alpha val="100000"/>
                  </a:srgbClr>
                </a:solidFill>
                <a:latin typeface="Yu Gothic"/>
              </a:rPr>
              <a:t>
※天板(S･TT-G774)、脚(S･LS-G774)、パネル(S･OS-G774･TP)、とセットでご注文ください。
※モニター本体及び取付用ボルトは付属されていません。
※適用モニターサイズ：27インチ相当湾曲モニター、24インチ相当平面モニター</a:t>
            </a:r>
          </a:p>
        </p:txBody>
      </p:sp>
      <p:pic>
        <p:nvPicPr>
          <p:cNvPr id="26" name="Mark 10"/>
          <p:cNvPicPr>
            <a:picLocks noChangeAspect="1"/>
          </p:cNvPicPr>
          <p:nvPr/>
        </p:nvPicPr>
        <p:blipFill>
          <a:blip r:embed="rId11"/>
          <a:stretch>
            <a:fillRect/>
          </a:stretch>
        </p:blipFill>
        <p:spPr>
          <a:xfrm>
            <a:off x="7715250" y="3209925"/>
            <a:ext cx="171450" cy="171450"/>
          </a:xfrm>
          <a:prstGeom prst="rect">
            <a:avLst/>
          </a:prstGeom>
          <a:noFill/>
        </p:spPr>
      </p:pic>
      <p:pic>
        <p:nvPicPr>
          <p:cNvPr id="27" name="Mark 11"/>
          <p:cNvPicPr>
            <a:picLocks noChangeAspect="1"/>
          </p:cNvPicPr>
          <p:nvPr/>
        </p:nvPicPr>
        <p:blipFill>
          <a:blip r:embed="rId12"/>
          <a:stretch>
            <a:fillRect/>
          </a:stretch>
        </p:blipFill>
        <p:spPr>
          <a:xfrm>
            <a:off x="7905750" y="3209925"/>
            <a:ext cx="171450" cy="171450"/>
          </a:xfrm>
          <a:prstGeom prst="rect">
            <a:avLst/>
          </a:prstGeom>
          <a:noFill/>
        </p:spPr>
      </p:pic>
      <p:pic>
        <p:nvPicPr>
          <p:cNvPr id="28" name="Mark 12"/>
          <p:cNvPicPr>
            <a:picLocks noChangeAspect="1"/>
          </p:cNvPicPr>
          <p:nvPr/>
        </p:nvPicPr>
        <p:blipFill>
          <a:blip r:embed="rId14"/>
          <a:stretch>
            <a:fillRect/>
          </a:stretch>
        </p:blipFill>
        <p:spPr>
          <a:xfrm>
            <a:off x="8096250" y="3209925"/>
            <a:ext cx="171450" cy="171450"/>
          </a:xfrm>
          <a:prstGeom prst="rect">
            <a:avLst/>
          </a:prstGeom>
          <a:noFill/>
        </p:spPr>
      </p:pic>
      <p:sp>
        <p:nvSpPr>
          <p:cNvPr id="29" name="テキスト ボックス 28"/>
          <p:cNvSpPr txBox="1"/>
          <p:nvPr/>
        </p:nvSpPr>
        <p:spPr>
          <a:xfrm>
            <a:off x="1809750" y="3667125"/>
            <a:ext cx="2762250" cy="2667000"/>
          </a:xfrm>
          <a:prstGeom prst="rect">
            <a:avLst/>
          </a:prstGeom>
          <a:solidFill>
            <a:srgbClr val="F7F7F7">
              <a:alpha val="100000"/>
            </a:srgbClr>
          </a:solidFill>
        </p:spPr>
        <p:txBody>
          <a:bodyPr vert="horz" lIns="114300" tIns="171450" rIns="114300" bIns="171450" rtlCol="0" anchorCtr="0">
            <a:noAutofit/>
          </a:bodyPr>
          <a:lstStyle/>
          <a:p>
            <a:pPr fontAlgn="base"/>
            <a:r>
              <a:rPr lang="en-US" sz="900" b="1">
                <a:solidFill>
                  <a:srgbClr val="333333">
                    <a:alpha val="100000"/>
                  </a:srgbClr>
                </a:solidFill>
                <a:latin typeface="Yu Gothic"/>
              </a:rPr>
              <a:t>パネル5枚</a:t>
            </a:r>
          </a:p>
          <a:p>
            <a:pPr fontAlgn="base"/>
            <a:r>
              <a:rPr lang="en-US" sz="1000" b="1">
                <a:solidFill>
                  <a:srgbClr val="333333">
                    <a:alpha val="100000"/>
                  </a:srgbClr>
                </a:solidFill>
                <a:latin typeface="Century Gothic"/>
              </a:rPr>
              <a:t>S・OS-G774A・TP</a:t>
            </a:r>
          </a:p>
          <a:p>
            <a:pPr fontAlgn="base"/>
            <a:endParaRPr lang="en-US" sz="1000" b="1">
              <a:solidFill>
                <a:srgbClr val="333333">
                  <a:alpha val="100000"/>
                </a:srgbClr>
              </a:solidFill>
              <a:latin typeface="Century Gothic"/>
            </a:endParaRPr>
          </a:p>
          <a:p>
            <a:pPr fontAlgn="base"/>
            <a:r>
              <a:rPr lang="en-US" sz="900">
                <a:solidFill>
                  <a:srgbClr val="333333">
                    <a:alpha val="100000"/>
                  </a:srgbClr>
                </a:solidFill>
                <a:latin typeface="Yu Gothic"/>
              </a:rPr>
              <a:t>サイズ(mm)：W890・t30・H445</a:t>
            </a:r>
          </a:p>
          <a:p>
            <a:pPr fontAlgn="base"/>
            <a:r>
              <a:rPr lang="en-US" sz="900">
                <a:solidFill>
                  <a:srgbClr val="333333">
                    <a:alpha val="100000"/>
                  </a:srgbClr>
                </a:solidFill>
                <a:latin typeface="Yu Gothic"/>
              </a:rPr>
              <a:t>質量：25kg</a:t>
            </a:r>
          </a:p>
          <a:p>
            <a:pPr fontAlgn="base"/>
            <a:r>
              <a:rPr lang="en-US" sz="800">
                <a:solidFill>
                  <a:srgbClr val="7F7F7F">
                    <a:alpha val="100000"/>
                  </a:srgbClr>
                </a:solidFill>
                <a:latin typeface="Yu Gothic"/>
              </a:rPr>
              <a:t>
※天板(S･TT-G774)、脚(S･LS-G774)、モニターアーム(S･OA-G774･MA)とセットでご注文ください。
※モニター本体及びモニター取付用ボルトは付属されていません。</a:t>
            </a:r>
          </a:p>
        </p:txBody>
      </p:sp>
      <p:pic>
        <p:nvPicPr>
          <p:cNvPr id="30" name="Mark 13"/>
          <p:cNvPicPr>
            <a:picLocks noChangeAspect="1"/>
          </p:cNvPicPr>
          <p:nvPr/>
        </p:nvPicPr>
        <p:blipFill>
          <a:blip r:embed="rId11"/>
          <a:stretch>
            <a:fillRect/>
          </a:stretch>
        </p:blipFill>
        <p:spPr>
          <a:xfrm>
            <a:off x="1905000" y="6019800"/>
            <a:ext cx="171450" cy="171450"/>
          </a:xfrm>
          <a:prstGeom prst="rect">
            <a:avLst/>
          </a:prstGeom>
          <a:noFill/>
        </p:spPr>
      </p:pic>
      <p:pic>
        <p:nvPicPr>
          <p:cNvPr id="31" name="Mark 14"/>
          <p:cNvPicPr>
            <a:picLocks noChangeAspect="1"/>
          </p:cNvPicPr>
          <p:nvPr/>
        </p:nvPicPr>
        <p:blipFill>
          <a:blip r:embed="rId12"/>
          <a:stretch>
            <a:fillRect/>
          </a:stretch>
        </p:blipFill>
        <p:spPr>
          <a:xfrm>
            <a:off x="2095500" y="6019800"/>
            <a:ext cx="171450" cy="171450"/>
          </a:xfrm>
          <a:prstGeom prst="rect">
            <a:avLst/>
          </a:prstGeom>
          <a:noFill/>
        </p:spPr>
      </p:pic>
      <p:pic>
        <p:nvPicPr>
          <p:cNvPr id="32" name="Mark 15"/>
          <p:cNvPicPr>
            <a:picLocks noChangeAspect="1"/>
          </p:cNvPicPr>
          <p:nvPr/>
        </p:nvPicPr>
        <p:blipFill>
          <a:blip r:embed="rId13"/>
          <a:stretch>
            <a:fillRect/>
          </a:stretch>
        </p:blipFill>
        <p:spPr>
          <a:xfrm>
            <a:off x="2286000" y="6019800"/>
            <a:ext cx="171450" cy="171450"/>
          </a:xfrm>
          <a:prstGeom prst="rect">
            <a:avLst/>
          </a:prstGeom>
          <a:noFill/>
        </p:spPr>
      </p:pic>
      <p:pic>
        <p:nvPicPr>
          <p:cNvPr id="33" name="Mark 16"/>
          <p:cNvPicPr>
            <a:picLocks noChangeAspect="1"/>
          </p:cNvPicPr>
          <p:nvPr/>
        </p:nvPicPr>
        <p:blipFill>
          <a:blip r:embed="rId14"/>
          <a:stretch>
            <a:fillRect/>
          </a:stretch>
        </p:blipFill>
        <p:spPr>
          <a:xfrm>
            <a:off x="2476500" y="6019800"/>
            <a:ext cx="171450" cy="171450"/>
          </a:xfrm>
          <a:prstGeom prst="rect">
            <a:avLst/>
          </a:prstGeom>
          <a:noFill/>
        </p:spPr>
      </p:pic>
    </p:spTree>
    <p:extLst>
      <p:ext uri="{BB962C8B-B14F-4D97-AF65-F5344CB8AC3E}">
        <p14:creationId xmlns:p14="http://schemas.microsoft.com/office/powerpoint/2010/main" val="16514017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3076575" y="190500"/>
          <a:ext cx="12477750" cy="6477000"/>
          <a:chOff x="-3076575" y="190500"/>
          <a:chExt cx="12477750" cy="6477000"/>
        </a:xfrm>
      </p:grpSpPr>
      <p:sp>
        <p:nvSpPr>
          <p:cNvPr id="2" name="テキスト ボックス 1"/>
          <p:cNvSpPr txBox="1"/>
          <p:nvPr/>
        </p:nvSpPr>
        <p:spPr>
          <a:xfrm>
            <a:off x="1809750" y="190500"/>
            <a:ext cx="5715000" cy="400110"/>
          </a:xfrm>
          <a:prstGeom prst="rect">
            <a:avLst/>
          </a:prstGeom>
          <a:noFill/>
        </p:spPr>
        <p:txBody>
          <a:bodyPr vert="horz" lIns="91440" tIns="45720" rIns="91440" bIns="45720" rtlCol="0" anchorCtr="0">
            <a:spAutoFit/>
          </a:bodyPr>
          <a:lstStyle/>
          <a:p>
            <a:pPr fontAlgn="base"/>
            <a:r>
              <a:rPr lang="en-US" sz="2000" u="sng">
                <a:solidFill>
                  <a:srgbClr val="333333">
                    <a:alpha val="100000"/>
                  </a:srgbClr>
                </a:solidFill>
                <a:latin typeface="Century Gothic"/>
                <a:hlinkClick r:id="rId2">
                  <a:extLst>
                    <a:ext uri="{A12FA001-AC4F-418D-AE19-62706E023703}">
                      <ahyp:hlinkClr xmlns:ahyp="http://schemas.microsoft.com/office/drawing/2018/hyperlinkcolor" val="tx"/>
                    </a:ext>
                  </a:extLst>
                </a:hlinkClick>
              </a:rPr>
              <a:t>S・CN-70</a:t>
            </a:r>
          </a:p>
        </p:txBody>
      </p:sp>
      <p:sp>
        <p:nvSpPr>
          <p:cNvPr id="3" name="テキスト ボックス 2"/>
          <p:cNvSpPr txBox="1"/>
          <p:nvPr/>
        </p:nvSpPr>
        <p:spPr>
          <a:xfrm>
            <a:off x="1809750" y="571501"/>
            <a:ext cx="8572500" cy="769441"/>
          </a:xfrm>
          <a:prstGeom prst="rect">
            <a:avLst/>
          </a:prstGeom>
          <a:noFill/>
        </p:spPr>
        <p:txBody>
          <a:bodyPr vert="horz" lIns="91440" tIns="45720" rIns="91440" bIns="45720" rtlCol="0" anchorCtr="0">
            <a:spAutoFit/>
          </a:bodyPr>
          <a:lstStyle/>
          <a:p>
            <a:pPr fontAlgn="base"/>
            <a:r>
              <a:rPr lang="en-US" sz="1100" b="1">
                <a:solidFill>
                  <a:srgbClr val="333333">
                    <a:alpha val="100000"/>
                  </a:srgbClr>
                </a:solidFill>
                <a:latin typeface="Yu Gothic"/>
              </a:rPr>
              <a:t>座り心地を追求した機能的なタスクチェアに、
インテリア性の高い繊細なカラーのファブリックを採用。
シンプルなデザインは複数並べても美しく、
シーンを選ばず幅広くご利用いただけます。</a:t>
            </a:r>
          </a:p>
        </p:txBody>
      </p:sp>
      <p:pic>
        <p:nvPicPr>
          <p:cNvPr id="4" name="Mark 1"/>
          <p:cNvPicPr>
            <a:picLocks noChangeAspect="1"/>
          </p:cNvPicPr>
          <p:nvPr/>
        </p:nvPicPr>
        <p:blipFill>
          <a:blip r:embed="rId3"/>
          <a:stretch>
            <a:fillRect/>
          </a:stretch>
        </p:blipFill>
        <p:spPr>
          <a:xfrm>
            <a:off x="9696450" y="238125"/>
            <a:ext cx="685800" cy="171450"/>
          </a:xfrm>
          <a:prstGeom prst="rect">
            <a:avLst/>
          </a:prstGeom>
          <a:noFill/>
        </p:spPr>
      </p:pic>
      <p:pic>
        <p:nvPicPr>
          <p:cNvPr id="5" name="Mark 2"/>
          <p:cNvPicPr>
            <a:picLocks noChangeAspect="1"/>
          </p:cNvPicPr>
          <p:nvPr/>
        </p:nvPicPr>
        <p:blipFill>
          <a:blip r:embed="rId4"/>
          <a:stretch>
            <a:fillRect/>
          </a:stretch>
        </p:blipFill>
        <p:spPr>
          <a:xfrm>
            <a:off x="9505950" y="238125"/>
            <a:ext cx="171450" cy="171450"/>
          </a:xfrm>
          <a:prstGeom prst="rect">
            <a:avLst/>
          </a:prstGeom>
          <a:noFill/>
        </p:spPr>
      </p:pic>
      <p:pic>
        <p:nvPicPr>
          <p:cNvPr id="6" name="Mark 3"/>
          <p:cNvPicPr>
            <a:picLocks noChangeAspect="1"/>
          </p:cNvPicPr>
          <p:nvPr/>
        </p:nvPicPr>
        <p:blipFill>
          <a:blip r:embed="rId5"/>
          <a:stretch>
            <a:fillRect/>
          </a:stretch>
        </p:blipFill>
        <p:spPr>
          <a:xfrm>
            <a:off x="9315450" y="238125"/>
            <a:ext cx="171450" cy="171450"/>
          </a:xfrm>
          <a:prstGeom prst="rect">
            <a:avLst/>
          </a:prstGeom>
          <a:noFill/>
        </p:spPr>
      </p:pic>
      <p:pic>
        <p:nvPicPr>
          <p:cNvPr id="7" name="Mark 4"/>
          <p:cNvPicPr>
            <a:picLocks noChangeAspect="1"/>
          </p:cNvPicPr>
          <p:nvPr/>
        </p:nvPicPr>
        <p:blipFill>
          <a:blip r:embed="rId6"/>
          <a:stretch>
            <a:fillRect/>
          </a:stretch>
        </p:blipFill>
        <p:spPr>
          <a:xfrm>
            <a:off x="9124950" y="238125"/>
            <a:ext cx="171450" cy="171450"/>
          </a:xfrm>
          <a:prstGeom prst="rect">
            <a:avLst/>
          </a:prstGeom>
          <a:noFill/>
        </p:spPr>
      </p:pic>
      <p:pic>
        <p:nvPicPr>
          <p:cNvPr id="8" name="Mark 5"/>
          <p:cNvPicPr>
            <a:picLocks noChangeAspect="1"/>
          </p:cNvPicPr>
          <p:nvPr/>
        </p:nvPicPr>
        <p:blipFill>
          <a:blip r:embed="rId7"/>
          <a:stretch>
            <a:fillRect/>
          </a:stretch>
        </p:blipFill>
        <p:spPr>
          <a:xfrm>
            <a:off x="8924926" y="238125"/>
            <a:ext cx="180975" cy="171450"/>
          </a:xfrm>
          <a:prstGeom prst="rect">
            <a:avLst/>
          </a:prstGeom>
          <a:noFill/>
        </p:spPr>
      </p:pic>
      <p:pic>
        <p:nvPicPr>
          <p:cNvPr id="9" name="Mark 6"/>
          <p:cNvPicPr>
            <a:picLocks noChangeAspect="1"/>
          </p:cNvPicPr>
          <p:nvPr/>
        </p:nvPicPr>
        <p:blipFill>
          <a:blip r:embed="rId8"/>
          <a:stretch>
            <a:fillRect/>
          </a:stretch>
        </p:blipFill>
        <p:spPr>
          <a:xfrm>
            <a:off x="8734425" y="238125"/>
            <a:ext cx="171450" cy="171450"/>
          </a:xfrm>
          <a:prstGeom prst="rect">
            <a:avLst/>
          </a:prstGeom>
          <a:noFill/>
        </p:spPr>
      </p:pic>
      <p:pic>
        <p:nvPicPr>
          <p:cNvPr id="10" name="Product Image 1"/>
          <p:cNvPicPr>
            <a:picLocks noChangeAspect="1"/>
          </p:cNvPicPr>
          <p:nvPr/>
        </p:nvPicPr>
        <p:blipFill>
          <a:blip r:embed="rId9"/>
          <a:stretch>
            <a:fillRect/>
          </a:stretch>
        </p:blipFill>
        <p:spPr>
          <a:xfrm>
            <a:off x="1809750" y="1333500"/>
            <a:ext cx="2095500" cy="2095500"/>
          </a:xfrm>
          <a:prstGeom prst="rect">
            <a:avLst/>
          </a:prstGeom>
          <a:noFill/>
        </p:spPr>
      </p:pic>
      <p:pic>
        <p:nvPicPr>
          <p:cNvPr id="11" name="Product Image 2"/>
          <p:cNvPicPr>
            <a:picLocks noChangeAspect="1"/>
          </p:cNvPicPr>
          <p:nvPr/>
        </p:nvPicPr>
        <p:blipFill>
          <a:blip r:embed="rId10"/>
          <a:stretch>
            <a:fillRect/>
          </a:stretch>
        </p:blipFill>
        <p:spPr>
          <a:xfrm>
            <a:off x="3952875" y="1333501"/>
            <a:ext cx="2095500" cy="1781175"/>
          </a:xfrm>
          <a:prstGeom prst="rect">
            <a:avLst/>
          </a:prstGeom>
          <a:noFill/>
        </p:spPr>
      </p:pic>
      <p:pic>
        <p:nvPicPr>
          <p:cNvPr id="12" name="Product Image 3"/>
          <p:cNvPicPr>
            <a:picLocks noChangeAspect="1"/>
          </p:cNvPicPr>
          <p:nvPr/>
        </p:nvPicPr>
        <p:blipFill>
          <a:blip r:embed="rId11"/>
          <a:stretch>
            <a:fillRect/>
          </a:stretch>
        </p:blipFill>
        <p:spPr>
          <a:xfrm>
            <a:off x="6096000" y="1333500"/>
            <a:ext cx="2095500" cy="1390650"/>
          </a:xfrm>
          <a:prstGeom prst="rect">
            <a:avLst/>
          </a:prstGeom>
          <a:noFill/>
        </p:spPr>
      </p:pic>
      <p:pic>
        <p:nvPicPr>
          <p:cNvPr id="13" name="Product Image 4"/>
          <p:cNvPicPr>
            <a:picLocks noChangeAspect="1"/>
          </p:cNvPicPr>
          <p:nvPr/>
        </p:nvPicPr>
        <p:blipFill>
          <a:blip r:embed="rId12"/>
          <a:stretch>
            <a:fillRect/>
          </a:stretch>
        </p:blipFill>
        <p:spPr>
          <a:xfrm>
            <a:off x="8239125" y="1333500"/>
            <a:ext cx="1390650" cy="2095500"/>
          </a:xfrm>
          <a:prstGeom prst="rect">
            <a:avLst/>
          </a:prstGeom>
          <a:noFill/>
        </p:spPr>
      </p:pic>
      <p:pic>
        <p:nvPicPr>
          <p:cNvPr id="14" name="Product Image 5"/>
          <p:cNvPicPr>
            <a:picLocks noChangeAspect="1"/>
          </p:cNvPicPr>
          <p:nvPr/>
        </p:nvPicPr>
        <p:blipFill>
          <a:blip r:embed="rId13"/>
          <a:stretch>
            <a:fillRect/>
          </a:stretch>
        </p:blipFill>
        <p:spPr>
          <a:xfrm>
            <a:off x="-1095375" y="238125"/>
            <a:ext cx="714375" cy="1047750"/>
          </a:xfrm>
          <a:prstGeom prst="rect">
            <a:avLst/>
          </a:prstGeom>
          <a:noFill/>
        </p:spPr>
      </p:pic>
      <p:pic>
        <p:nvPicPr>
          <p:cNvPr id="15" name="Product Image 6"/>
          <p:cNvPicPr>
            <a:picLocks noChangeAspect="1"/>
          </p:cNvPicPr>
          <p:nvPr/>
        </p:nvPicPr>
        <p:blipFill>
          <a:blip r:embed="rId14"/>
          <a:stretch>
            <a:fillRect/>
          </a:stretch>
        </p:blipFill>
        <p:spPr>
          <a:xfrm>
            <a:off x="-1981200" y="238125"/>
            <a:ext cx="828675" cy="1047750"/>
          </a:xfrm>
          <a:prstGeom prst="rect">
            <a:avLst/>
          </a:prstGeom>
          <a:noFill/>
        </p:spPr>
      </p:pic>
      <p:pic>
        <p:nvPicPr>
          <p:cNvPr id="16" name="Product Image 7"/>
          <p:cNvPicPr>
            <a:picLocks noChangeAspect="1"/>
          </p:cNvPicPr>
          <p:nvPr/>
        </p:nvPicPr>
        <p:blipFill>
          <a:blip r:embed="rId15"/>
          <a:stretch>
            <a:fillRect/>
          </a:stretch>
        </p:blipFill>
        <p:spPr>
          <a:xfrm>
            <a:off x="-3076575" y="238126"/>
            <a:ext cx="1038225" cy="561975"/>
          </a:xfrm>
          <a:prstGeom prst="rect">
            <a:avLst/>
          </a:prstGeom>
          <a:noFill/>
        </p:spPr>
      </p:pic>
      <p:sp>
        <p:nvSpPr>
          <p:cNvPr id="17" name="テキスト ボックス 16"/>
          <p:cNvSpPr txBox="1"/>
          <p:nvPr/>
        </p:nvSpPr>
        <p:spPr>
          <a:xfrm>
            <a:off x="1809750" y="3810000"/>
            <a:ext cx="3810000" cy="2667000"/>
          </a:xfrm>
          <a:prstGeom prst="rect">
            <a:avLst/>
          </a:prstGeom>
          <a:solidFill>
            <a:srgbClr val="F7F7F7">
              <a:alpha val="100000"/>
            </a:srgbClr>
          </a:solidFill>
        </p:spPr>
        <p:txBody>
          <a:bodyPr vert="horz" lIns="171450" tIns="238125" rIns="171450" bIns="238125" rtlCol="0" anchorCtr="0">
            <a:noAutofit/>
          </a:bodyPr>
          <a:lstStyle/>
          <a:p>
            <a:pPr fontAlgn="base"/>
            <a:r>
              <a:rPr lang="en-US" sz="900" b="1">
                <a:solidFill>
                  <a:srgbClr val="333333">
                    <a:alpha val="100000"/>
                  </a:srgbClr>
                </a:solidFill>
                <a:latin typeface="Yu Gothic"/>
              </a:rPr>
              <a:t>タスクチェア（ミドルタイプ・ブラック・BK）</a:t>
            </a:r>
          </a:p>
          <a:p>
            <a:pPr fontAlgn="base"/>
            <a:r>
              <a:rPr lang="en-US" sz="1000" b="1" u="sng">
                <a:solidFill>
                  <a:srgbClr val="333333">
                    <a:alpha val="100000"/>
                  </a:srgbClr>
                </a:solidFill>
                <a:latin typeface="Century Gothic"/>
                <a:hlinkClick r:id="">
                  <a:extLst>
                    <a:ext uri="{A12FA001-AC4F-418D-AE19-62706E023703}">
                      <ahyp:hlinkClr xmlns:ahyp="http://schemas.microsoft.com/office/drawing/2018/hyperlinkcolor" val="tx"/>
                    </a:ext>
                  </a:extLst>
                </a:hlinkClick>
              </a:rPr>
              <a:t>S・CN-70・M・AC・BK</a:t>
            </a:r>
          </a:p>
          <a:p>
            <a:pPr fontAlgn="base"/>
            <a:endParaRPr lang="en-US" sz="1000" b="1" u="sng">
              <a:solidFill>
                <a:srgbClr val="333333">
                  <a:alpha val="100000"/>
                </a:srgbClr>
              </a:solidFill>
              <a:latin typeface="Century Gothic"/>
              <a:hlinkClick r:id="">
                <a:extLst>
                  <a:ext uri="{A12FA001-AC4F-418D-AE19-62706E023703}">
                    <ahyp:hlinkClr xmlns:ahyp="http://schemas.microsoft.com/office/drawing/2018/hyperlinkcolor" val="tx"/>
                  </a:ext>
                </a:extLst>
              </a:hlinkClick>
            </a:endParaRPr>
          </a:p>
          <a:p>
            <a:pPr fontAlgn="base"/>
            <a:r>
              <a:rPr lang="en-US" sz="900">
                <a:solidFill>
                  <a:srgbClr val="333333">
                    <a:alpha val="100000"/>
                  </a:srgbClr>
                </a:solidFill>
                <a:latin typeface="Yu Gothic"/>
              </a:rPr>
              <a:t>カラーバリエーション：BK
</a:t>
            </a:r>
          </a:p>
          <a:p>
            <a:pPr fontAlgn="base"/>
            <a:r>
              <a:rPr lang="en-US" sz="900">
                <a:solidFill>
                  <a:srgbClr val="333333">
                    <a:alpha val="100000"/>
                  </a:srgbClr>
                </a:solidFill>
                <a:latin typeface="Yu Gothic"/>
              </a:rPr>
              <a:t>サイズ(mm)：W685・D710・H955～1070・SH435～550</a:t>
            </a:r>
          </a:p>
          <a:p>
            <a:pPr fontAlgn="base"/>
            <a:r>
              <a:rPr lang="en-US" sz="900">
                <a:solidFill>
                  <a:srgbClr val="333333">
                    <a:alpha val="100000"/>
                  </a:srgbClr>
                </a:solidFill>
                <a:latin typeface="Yu Gothic"/>
              </a:rPr>
              <a:t>質量：17.9kg</a:t>
            </a:r>
          </a:p>
          <a:p>
            <a:pPr fontAlgn="base"/>
            <a:r>
              <a:rPr lang="en-US" sz="900">
                <a:solidFill>
                  <a:srgbClr val="333333">
                    <a:alpha val="100000"/>
                  </a:srgbClr>
                </a:solidFill>
                <a:latin typeface="Yu Gothic"/>
              </a:rPr>
              <a:t>素材：背・座：ファブリック張り(デンマーク製)
フレーム：ナイロン（ブラック）
脚：ナイロン・60φナイロンキャスター</a:t>
            </a:r>
          </a:p>
        </p:txBody>
      </p:sp>
      <p:pic>
        <p:nvPicPr>
          <p:cNvPr id="18" name="Color Chip 1"/>
          <p:cNvPicPr>
            <a:picLocks noChangeAspect="1"/>
          </p:cNvPicPr>
          <p:nvPr/>
        </p:nvPicPr>
        <p:blipFill>
          <a:blip r:embed="rId16"/>
          <a:stretch>
            <a:fillRect/>
          </a:stretch>
        </p:blipFill>
        <p:spPr>
          <a:xfrm>
            <a:off x="1990726" y="4686301"/>
            <a:ext cx="142875" cy="142875"/>
          </a:xfrm>
          <a:prstGeom prst="rect">
            <a:avLst/>
          </a:prstGeom>
          <a:noFill/>
        </p:spPr>
      </p:pic>
      <p:sp>
        <p:nvSpPr>
          <p:cNvPr id="19" name="テキスト ボックス 18"/>
          <p:cNvSpPr txBox="1"/>
          <p:nvPr/>
        </p:nvSpPr>
        <p:spPr>
          <a:xfrm>
            <a:off x="5715000" y="3810000"/>
            <a:ext cx="952500" cy="338554"/>
          </a:xfrm>
          <a:prstGeom prst="rect">
            <a:avLst/>
          </a:prstGeom>
          <a:noFill/>
        </p:spPr>
        <p:txBody>
          <a:bodyPr vert="horz" lIns="91440" tIns="45720" rIns="91440" bIns="45720" rtlCol="0" anchorCtr="0">
            <a:spAutoFit/>
          </a:bodyPr>
          <a:lstStyle/>
          <a:p>
            <a:pPr fontAlgn="base"/>
            <a:r>
              <a:rPr lang="en-US" sz="1600">
                <a:solidFill>
                  <a:srgbClr val="333333">
                    <a:alpha val="100000"/>
                  </a:srgbClr>
                </a:solidFill>
                <a:latin typeface="Century Gothic"/>
              </a:rPr>
              <a:t>Point</a:t>
            </a:r>
          </a:p>
        </p:txBody>
      </p:sp>
      <p:cxnSp>
        <p:nvCxnSpPr>
          <p:cNvPr id="20" name="直線コネクタ 19"/>
          <p:cNvCxnSpPr/>
          <p:nvPr/>
        </p:nvCxnSpPr>
        <p:spPr>
          <a:xfrm>
            <a:off x="5715000" y="4095751"/>
            <a:ext cx="4667250" cy="9525"/>
          </a:xfrm>
          <a:prstGeom prst="line">
            <a:avLst/>
          </a:prstGeom>
          <a:ln w="9525" cap="flat" cmpd="sng" algn="ctr">
            <a:solidFill>
              <a:srgbClr val="000000">
                <a:alpha val="100000"/>
              </a:srgbClr>
            </a:solidFill>
            <a:prstDash val="solid"/>
            <a:round/>
            <a:headEnd type="none" w="med" len="med"/>
            <a:tailEnd type="none" w="med" len="med"/>
          </a:ln>
        </p:spPr>
      </p:cxnSp>
      <p:pic>
        <p:nvPicPr>
          <p:cNvPr id="21" name="Particular Point Image 1"/>
          <p:cNvPicPr>
            <a:picLocks noChangeAspect="1"/>
          </p:cNvPicPr>
          <p:nvPr/>
        </p:nvPicPr>
        <p:blipFill>
          <a:blip r:embed="rId17"/>
          <a:stretch>
            <a:fillRect/>
          </a:stretch>
        </p:blipFill>
        <p:spPr>
          <a:xfrm>
            <a:off x="5715001" y="4191000"/>
            <a:ext cx="1514475" cy="1009650"/>
          </a:xfrm>
          <a:prstGeom prst="rect">
            <a:avLst/>
          </a:prstGeom>
          <a:noFill/>
        </p:spPr>
      </p:pic>
      <p:sp>
        <p:nvSpPr>
          <p:cNvPr id="22" name="テキスト ボックス 21"/>
          <p:cNvSpPr txBox="1"/>
          <p:nvPr/>
        </p:nvSpPr>
        <p:spPr>
          <a:xfrm>
            <a:off x="5715000" y="5295901"/>
            <a:ext cx="1524000" cy="507831"/>
          </a:xfrm>
          <a:prstGeom prst="rect">
            <a:avLst/>
          </a:prstGeom>
          <a:noFill/>
        </p:spPr>
        <p:txBody>
          <a:bodyPr vert="horz" lIns="91440" tIns="45720" rIns="91440" bIns="45720" rtlCol="0" anchorCtr="0">
            <a:spAutoFit/>
          </a:bodyPr>
          <a:lstStyle/>
          <a:p>
            <a:pPr fontAlgn="base"/>
            <a:r>
              <a:rPr lang="en-US" sz="900">
                <a:solidFill>
                  <a:srgbClr val="333333">
                    <a:alpha val="100000"/>
                  </a:srgbClr>
                </a:solidFill>
                <a:latin typeface="Yu Gothic"/>
              </a:rPr>
              <a:t>シンクロロッキング機能
3段階で固定可能なシンクロロッキング機能です。</a:t>
            </a:r>
          </a:p>
        </p:txBody>
      </p:sp>
      <p:pic>
        <p:nvPicPr>
          <p:cNvPr id="23" name="Particular Point Image 2"/>
          <p:cNvPicPr>
            <a:picLocks noChangeAspect="1"/>
          </p:cNvPicPr>
          <p:nvPr/>
        </p:nvPicPr>
        <p:blipFill>
          <a:blip r:embed="rId18"/>
          <a:stretch>
            <a:fillRect/>
          </a:stretch>
        </p:blipFill>
        <p:spPr>
          <a:xfrm>
            <a:off x="7286626" y="4191000"/>
            <a:ext cx="1514475" cy="1009650"/>
          </a:xfrm>
          <a:prstGeom prst="rect">
            <a:avLst/>
          </a:prstGeom>
          <a:noFill/>
        </p:spPr>
      </p:pic>
      <p:sp>
        <p:nvSpPr>
          <p:cNvPr id="24" name="テキスト ボックス 23"/>
          <p:cNvSpPr txBox="1"/>
          <p:nvPr/>
        </p:nvSpPr>
        <p:spPr>
          <a:xfrm>
            <a:off x="7286625" y="5295901"/>
            <a:ext cx="1524000" cy="646331"/>
          </a:xfrm>
          <a:prstGeom prst="rect">
            <a:avLst/>
          </a:prstGeom>
          <a:noFill/>
        </p:spPr>
        <p:txBody>
          <a:bodyPr vert="horz" lIns="91440" tIns="45720" rIns="91440" bIns="45720" rtlCol="0" anchorCtr="0">
            <a:spAutoFit/>
          </a:bodyPr>
          <a:lstStyle/>
          <a:p>
            <a:pPr fontAlgn="base"/>
            <a:r>
              <a:rPr lang="en-US" sz="900">
                <a:solidFill>
                  <a:srgbClr val="333333">
                    <a:alpha val="100000"/>
                  </a:srgbClr>
                </a:solidFill>
                <a:latin typeface="Yu Gothic"/>
              </a:rPr>
              <a:t>ロッキング反力調整
レバーを前後に回すことでロッキング反力の強弱を調整できます。</a:t>
            </a:r>
          </a:p>
        </p:txBody>
      </p:sp>
      <p:pic>
        <p:nvPicPr>
          <p:cNvPr id="25" name="Particular Point Image 3"/>
          <p:cNvPicPr>
            <a:picLocks noChangeAspect="1"/>
          </p:cNvPicPr>
          <p:nvPr/>
        </p:nvPicPr>
        <p:blipFill>
          <a:blip r:embed="rId19"/>
          <a:stretch>
            <a:fillRect/>
          </a:stretch>
        </p:blipFill>
        <p:spPr>
          <a:xfrm>
            <a:off x="8858251" y="4191000"/>
            <a:ext cx="1514475" cy="1009650"/>
          </a:xfrm>
          <a:prstGeom prst="rect">
            <a:avLst/>
          </a:prstGeom>
          <a:noFill/>
        </p:spPr>
      </p:pic>
      <p:sp>
        <p:nvSpPr>
          <p:cNvPr id="26" name="テキスト ボックス 25"/>
          <p:cNvSpPr txBox="1"/>
          <p:nvPr/>
        </p:nvSpPr>
        <p:spPr>
          <a:xfrm>
            <a:off x="8858250" y="5295901"/>
            <a:ext cx="1524000" cy="1200329"/>
          </a:xfrm>
          <a:prstGeom prst="rect">
            <a:avLst/>
          </a:prstGeom>
          <a:noFill/>
        </p:spPr>
        <p:txBody>
          <a:bodyPr vert="horz" lIns="91440" tIns="45720" rIns="91440" bIns="45720" rtlCol="0" anchorCtr="0">
            <a:spAutoFit/>
          </a:bodyPr>
          <a:lstStyle/>
          <a:p>
            <a:pPr fontAlgn="base"/>
            <a:r>
              <a:rPr lang="en-US" sz="900">
                <a:solidFill>
                  <a:srgbClr val="333333">
                    <a:alpha val="100000"/>
                  </a:srgbClr>
                </a:solidFill>
                <a:latin typeface="Yu Gothic"/>
              </a:rPr>
              <a:t>座面スライド機能・昇降機能
座面奥行を調節できる、前後スライド機能付きです。座・肘の昇降が可能です。※肘単体のスライド機能は付いておりません。</a:t>
            </a:r>
          </a:p>
        </p:txBody>
      </p:sp>
      <p:pic>
        <p:nvPicPr>
          <p:cNvPr id="27" name="Particular Point Image 4"/>
          <p:cNvPicPr>
            <a:picLocks noChangeAspect="1"/>
          </p:cNvPicPr>
          <p:nvPr/>
        </p:nvPicPr>
        <p:blipFill>
          <a:blip r:embed="rId20"/>
          <a:stretch>
            <a:fillRect/>
          </a:stretch>
        </p:blipFill>
        <p:spPr>
          <a:xfrm>
            <a:off x="12382500" y="238125"/>
            <a:ext cx="1514475" cy="1009650"/>
          </a:xfrm>
          <a:prstGeom prst="rect">
            <a:avLst/>
          </a:prstGeom>
          <a:noFill/>
        </p:spPr>
      </p:pic>
      <p:sp>
        <p:nvSpPr>
          <p:cNvPr id="28" name="テキスト ボックス 27"/>
          <p:cNvSpPr txBox="1"/>
          <p:nvPr/>
        </p:nvSpPr>
        <p:spPr>
          <a:xfrm>
            <a:off x="12382500" y="1343026"/>
            <a:ext cx="1524000" cy="646331"/>
          </a:xfrm>
          <a:prstGeom prst="rect">
            <a:avLst/>
          </a:prstGeom>
          <a:noFill/>
        </p:spPr>
        <p:txBody>
          <a:bodyPr vert="horz" lIns="91440" tIns="45720" rIns="91440" bIns="45720" rtlCol="0" anchorCtr="0">
            <a:spAutoFit/>
          </a:bodyPr>
          <a:lstStyle/>
          <a:p>
            <a:pPr fontAlgn="base"/>
            <a:r>
              <a:rPr lang="en-US" sz="900">
                <a:solidFill>
                  <a:srgbClr val="333333">
                    <a:alpha val="100000"/>
                  </a:srgbClr>
                </a:solidFill>
                <a:latin typeface="Yu Gothic"/>
              </a:rPr>
              <a:t>ランバーサポート機能
お好みの位置に調節できる、ランバーサポート付きです。</a:t>
            </a:r>
          </a:p>
        </p:txBody>
      </p:sp>
      <p:pic>
        <p:nvPicPr>
          <p:cNvPr id="29" name="Particular Point Image 5"/>
          <p:cNvPicPr>
            <a:picLocks noChangeAspect="1"/>
          </p:cNvPicPr>
          <p:nvPr/>
        </p:nvPicPr>
        <p:blipFill>
          <a:blip r:embed="rId21"/>
          <a:stretch>
            <a:fillRect/>
          </a:stretch>
        </p:blipFill>
        <p:spPr>
          <a:xfrm>
            <a:off x="14001750" y="238125"/>
            <a:ext cx="1514475" cy="1009650"/>
          </a:xfrm>
          <a:prstGeom prst="rect">
            <a:avLst/>
          </a:prstGeom>
          <a:noFill/>
        </p:spPr>
      </p:pic>
      <p:sp>
        <p:nvSpPr>
          <p:cNvPr id="30" name="テキスト ボックス 29"/>
          <p:cNvSpPr txBox="1"/>
          <p:nvPr/>
        </p:nvSpPr>
        <p:spPr>
          <a:xfrm>
            <a:off x="14001750" y="1343026"/>
            <a:ext cx="1524000" cy="646331"/>
          </a:xfrm>
          <a:prstGeom prst="rect">
            <a:avLst/>
          </a:prstGeom>
          <a:noFill/>
        </p:spPr>
        <p:txBody>
          <a:bodyPr vert="horz" lIns="91440" tIns="45720" rIns="91440" bIns="45720" rtlCol="0" anchorCtr="0">
            <a:spAutoFit/>
          </a:bodyPr>
          <a:lstStyle/>
          <a:p>
            <a:pPr fontAlgn="base"/>
            <a:r>
              <a:rPr lang="en-US" sz="900">
                <a:solidFill>
                  <a:srgbClr val="333333">
                    <a:alpha val="100000"/>
                  </a:srgbClr>
                </a:solidFill>
                <a:latin typeface="Yu Gothic"/>
              </a:rPr>
              <a:t>こだわりのファブリック
発色の美しいデンマーク製のファブリックを使用しています。</a:t>
            </a:r>
          </a:p>
        </p:txBody>
      </p:sp>
    </p:spTree>
    <p:extLst>
      <p:ext uri="{BB962C8B-B14F-4D97-AF65-F5344CB8AC3E}">
        <p14:creationId xmlns:p14="http://schemas.microsoft.com/office/powerpoint/2010/main" val="3937642512"/>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595</Words>
  <Application>Microsoft Office PowerPoint</Application>
  <PresentationFormat>ワイド画面</PresentationFormat>
  <Paragraphs>73</Paragraphs>
  <Slides>5</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5</vt:i4>
      </vt:variant>
    </vt:vector>
  </HeadingPairs>
  <TitlesOfParts>
    <vt:vector size="11" baseType="lpstr">
      <vt:lpstr>Yu Gothic</vt:lpstr>
      <vt:lpstr>Yu Gothic</vt:lpstr>
      <vt:lpstr>游ゴシック Light</vt:lpstr>
      <vt:lpstr>Arial</vt:lpstr>
      <vt:lpstr>Century Gothic</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谷岡佑馬</dc:creator>
  <cp:lastModifiedBy>谷岡佑馬</cp:lastModifiedBy>
  <cp:revision>1</cp:revision>
  <dcterms:created xsi:type="dcterms:W3CDTF">2026-04-01T04:00:38Z</dcterms:created>
  <dcterms:modified xsi:type="dcterms:W3CDTF">2026-04-01T04:00:38Z</dcterms:modified>
</cp:coreProperties>
</file>