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183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4cec98e.svg2.png"/>
  <Relationship Id="rId3" Type="http://schemas.openxmlformats.org/officeDocument/2006/relationships/image" Target="../media/ppt_169c2364d08a97.svg3.png"/>
  <Relationship Id="rId4" Type="http://schemas.openxmlformats.org/officeDocument/2006/relationships/image" Target="../media/ppt_169c2364d14750.svg4.png"/>
  <Relationship Id="rId5" Type="http://schemas.openxmlformats.org/officeDocument/2006/relationships/image" Target="../media/ppt_169c2364d221e6.svg5.png"/>
  <Relationship Id="rId6" Type="http://schemas.openxmlformats.org/officeDocument/2006/relationships/image" Target="../media/ppt_169c2364d2ce8e.svg6.png"/>
  <Relationship Id="rId7" Type="http://schemas.openxmlformats.org/officeDocument/2006/relationships/image" Target="../media/ppt_169c2364d41d8a7.jpg"/>
  <Relationship Id="rId8" Type="http://schemas.openxmlformats.org/officeDocument/2006/relationships/image" Target="../media/ppt_169c2364d5392d8.jpg"/>
  <Relationship Id="rId9" Type="http://schemas.openxmlformats.org/officeDocument/2006/relationships/image" Target="../media/ppt_169c2364d615ac9.jpg"/>
  <Relationship Id="rId10" Type="http://schemas.openxmlformats.org/officeDocument/2006/relationships/image" Target="../media/ppt_169c2364d719ae10.jpg"/>
  <Relationship Id="rId11" Type="http://schemas.openxmlformats.org/officeDocument/2006/relationships/image" Target="../media/ppt_169c2364d8028211.jpg"/>
  <Relationship Id="rId12" Type="http://schemas.openxmlformats.org/officeDocument/2006/relationships/image" Target="../media/ppt_169c2364d8d29f12.jpg"/>
  <Relationship Id="rId13" Type="http://schemas.openxmlformats.org/officeDocument/2006/relationships/image" Target="../media/ppt_169c2364d9dff613.jpg"/>
  <Relationship Id="rId14" Type="http://schemas.openxmlformats.org/officeDocument/2006/relationships/image" Target="../media/ppt_169c2364dac1a014.jpg"/>
  <Relationship Id="rId15" Type="http://schemas.openxmlformats.org/officeDocument/2006/relationships/image" Target="../media/ppt_169c2364db9c7f15.jpg"/>
  <Relationship Id="rId16" Type="http://schemas.openxmlformats.org/officeDocument/2006/relationships/image" Target="../media/ppt_169c2364dc7db116.jpg"/>
  <Relationship Id="rId17" Type="http://schemas.openxmlformats.org/officeDocument/2006/relationships/image" Target="../media/ppt_169c2364dde10e17.jpg"/>
  <Relationship Id="rId18" Type="http://schemas.openxmlformats.org/officeDocument/2006/relationships/image" Target="../media/ppt_169c2364df20fb18.jpg"/>
  <Relationship Id="rId19" Type="http://schemas.openxmlformats.org/officeDocument/2006/relationships/image" Target="../media/ppt_169c2364e070f019.jpg"/>
  <Relationship Id="rId20" Type="http://schemas.openxmlformats.org/officeDocument/2006/relationships/image" Target="../media/ppt_169c2364e17c0d20.jpg"/>
  <Relationship Id="rId21" Type="http://schemas.openxmlformats.org/officeDocument/2006/relationships/image" Target="../media/ppt_169c2364e1d40f21.jpg"/>
  <Relationship Id="rId22" Type="http://schemas.openxmlformats.org/officeDocument/2006/relationships/image" Target="../media/ppt_169c2364e2ba5022.jpg"/>
  <Relationship Id="rId23" Type="http://schemas.openxmlformats.org/officeDocument/2006/relationships/image" Target="../media/ppt_169c2364e3b58d23.jpg"/>
  <Relationship Id="rId24" Type="http://schemas.openxmlformats.org/officeDocument/2006/relationships/image" Target="../media/ppt_169c2364e493ac24.jpg"/>
  <Relationship Id="rId25" Type="http://schemas.openxmlformats.org/officeDocument/2006/relationships/image" Target="../media/ppt_169c2364e59e1725.jpg"/>
  <Relationship Id="rId26" Type="http://schemas.openxmlformats.org/officeDocument/2006/relationships/image" Target="../media/ppt_169c2364e6ecd526.jpg"/>
  <Relationship Id="rId27" Type="http://schemas.openxmlformats.org/officeDocument/2006/relationships/image" Target="../media/ppt_169c2364e8345127.jpg"/>
  <Relationship Id="rId28" Type="http://schemas.openxmlformats.org/officeDocument/2006/relationships/image" Target="../media/ppt_169c2364e94e0b28.jpg"/>
  <Relationship Id="rId29" Type="http://schemas.openxmlformats.org/officeDocument/2006/relationships/image" Target="../media/ppt_169c2364ea8e5c29.jpg"/>
  <Relationship Id="rId30" Type="http://schemas.openxmlformats.org/officeDocument/2006/relationships/hyperlink" Target="https://www.oliverinc.co.jp/products/detail?id=SCNH830ACNA" TargetMode="External"/>
  <Relationship Id="rId31" Type="http://schemas.openxmlformats.org/officeDocument/2006/relationships/hyperlink" Target="https://www.oliverinc.co.jp/products/detail?id=SCNH830ACNA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4714875" y="190500"/>
          <a:ext cx="14097000" cy="6477000"/>
          <a:chOff x="-4714875" y="190500"/>
          <a:chExt cx="1409700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30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N-H83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85750" y="571500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“ちょうどいい”のバランスを追求した
人と環境に調和するNew chair]]></a:t>
            </a:r>
          </a:p>
        </p:txBody>
      </p:sp>
      <p:pic>
        <p:nvPicPr>
          <p:cNvPr id="4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Mark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38125"/>
            <a:ext cx="171450" cy="171450"/>
          </a:xfrm>
          <a:prstGeom prst="rect">
            <a:avLst/>
          </a:prstGeom>
          <a:noFill/>
        </p:spPr>
      </p:pic>
      <p:pic>
        <p:nvPicPr>
          <p:cNvPr id="7" name="Mark 4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5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2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8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11" name="Product Image 3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1333500"/>
            <a:ext cx="2095500" cy="2095500"/>
          </a:xfrm>
          <a:prstGeom prst="rect">
            <a:avLst/>
          </a:prstGeom>
          <a:noFill/>
        </p:spPr>
      </p:pic>
      <p:pic>
        <p:nvPicPr>
          <p:cNvPr id="12" name="Product Image 4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5125" y="1333500"/>
            <a:ext cx="2095500" cy="2095500"/>
          </a:xfrm>
          <a:prstGeom prst="rect">
            <a:avLst/>
          </a:prstGeom>
          <a:noFill/>
        </p:spPr>
      </p:pic>
      <p:pic>
        <p:nvPicPr>
          <p:cNvPr id="13" name="Product Image 5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428750" y="238125"/>
            <a:ext cx="1047750" cy="1047750"/>
          </a:xfrm>
          <a:prstGeom prst="rect">
            <a:avLst/>
          </a:prstGeom>
          <a:noFill/>
        </p:spPr>
      </p:pic>
      <p:pic>
        <p:nvPicPr>
          <p:cNvPr id="14" name="Product Image 6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524125" y="238125"/>
            <a:ext cx="1047750" cy="723900"/>
          </a:xfrm>
          <a:prstGeom prst="rect">
            <a:avLst/>
          </a:prstGeom>
          <a:noFill/>
        </p:spPr>
      </p:pic>
      <p:pic>
        <p:nvPicPr>
          <p:cNvPr id="15" name="Product Image 7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619500" y="238125"/>
            <a:ext cx="1047750" cy="723900"/>
          </a:xfrm>
          <a:prstGeom prst="rect">
            <a:avLst/>
          </a:prstGeom>
          <a:noFill/>
        </p:spPr>
      </p:pic>
      <p:pic>
        <p:nvPicPr>
          <p:cNvPr id="16" name="Product Image 8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4714875" y="238125"/>
            <a:ext cx="1047750" cy="695325"/>
          </a:xfrm>
          <a:prstGeom prst="rect">
            <a:avLst/>
          </a:prstGeom>
          <a:noFill/>
        </p:spPr>
      </p:pic>
      <p:pic>
        <p:nvPicPr>
          <p:cNvPr id="17" name="Product Image 9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428750" y="1571625"/>
            <a:ext cx="1047750" cy="619125"/>
          </a:xfrm>
          <a:prstGeom prst="rect">
            <a:avLst/>
          </a:prstGeom>
          <a:noFill/>
        </p:spPr>
      </p:pic>
      <p:pic>
        <p:nvPicPr>
          <p:cNvPr id="18" name="Product Image 10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524125" y="1571625"/>
            <a:ext cx="1047750" cy="781050"/>
          </a:xfrm>
          <a:prstGeom prst="rect">
            <a:avLst/>
          </a:prstGeom>
          <a:noFill/>
        </p:spPr>
      </p:pic>
      <p:pic>
        <p:nvPicPr>
          <p:cNvPr id="19" name="Product Image 11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3619500" y="1571625"/>
            <a:ext cx="1047750" cy="695325"/>
          </a:xfrm>
          <a:prstGeom prst="rect">
            <a:avLst/>
          </a:prstGeom>
          <a:noFill/>
        </p:spPr>
      </p:pic>
      <p:pic>
        <p:nvPicPr>
          <p:cNvPr id="20" name="Product Image 12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4714875" y="1571625"/>
            <a:ext cx="1038225" cy="666750"/>
          </a:xfrm>
          <a:prstGeom prst="rect">
            <a:avLst/>
          </a:prstGeom>
          <a:noFill/>
        </p:spPr>
      </p:pic>
      <p:sp>
        <p:nvSpPr>
          <p:cNvPr id="21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タスクチェア（NA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31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N-H830・AC・NA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NA・BR・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545/695・D540/695・H820~880・SH390~45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18.1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背：FSC®認証オーク材・ウレタン塗装・アルミダイキャスト・焼付塗装・TPE
座：FSC®認証オーク材・ウレタン塗装・モールドウレタン・100%再生ポリプロピレン
脚：アルミダイキャスト・焼付塗装・ウレタンキャスター]]></a:t>
            </a:r>
          </a:p>
        </p:txBody>
      </p:sp>
      <p:pic>
        <p:nvPicPr>
          <p:cNvPr id="22" name="Color Chip 1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pic>
        <p:nvPicPr>
          <p:cNvPr id="23" name="Color Chip 2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" y="4686300"/>
            <a:ext cx="142875" cy="142875"/>
          </a:xfrm>
          <a:prstGeom prst="rect">
            <a:avLst/>
          </a:prstGeom>
          <a:noFill/>
        </p:spPr>
      </p:pic>
      <p:pic>
        <p:nvPicPr>
          <p:cNvPr id="24" name="Color Chip 3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0575" y="4686300"/>
            <a:ext cx="142875" cy="142875"/>
          </a:xfrm>
          <a:prstGeom prst="rect">
            <a:avLst/>
          </a:prstGeom>
          <a:noFill/>
        </p:spPr>
      </p:pic>
      <p:sp>
        <p:nvSpPr>
          <p:cNvPr id="25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26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" name="Particular Point Image 1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28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精巧な技術で生まれた美しい曲木のラウンドフォルム。柔らかな曲線が上質さを伝え、空間に温もりと軽やかさを添えます。]]></a:t>
            </a:r>
          </a:p>
        </p:txBody>
      </p:sp>
      <p:pic>
        <p:nvPicPr>
          <p:cNvPr id="29" name="Particular Point Image 2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62625" y="4191000"/>
            <a:ext cx="1514475" cy="1009650"/>
          </a:xfrm>
          <a:prstGeom prst="rect">
            <a:avLst/>
          </a:prstGeom>
          <a:noFill/>
        </p:spPr>
      </p:pic>
      <p:sp>
        <p:nvSpPr>
          <p:cNvPr id="30" name=""/>
          <p:cNvSpPr txBox="1"/>
          <p:nvPr/>
        </p:nvSpPr>
        <p:spPr>
          <a:xfrm>
            <a:off x="5762625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人間工学に基づいた快適な座り心地
S字カーブの背形状と座面の曲線デザインにより、安定した座り心地を実現。コンパクトなサイズながら、さまざまな体格の方が、適正な姿勢で快適に座ることができます。]]></a:t>
            </a:r>
          </a:p>
        </p:txBody>
      </p:sp>
      <p:pic>
        <p:nvPicPr>
          <p:cNvPr id="31" name="Particular Point Image 3" descr="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34250" y="4191000"/>
            <a:ext cx="1514475" cy="1009650"/>
          </a:xfrm>
          <a:prstGeom prst="rect">
            <a:avLst/>
          </a:prstGeom>
          <a:noFill/>
        </p:spPr>
      </p:pic>
      <p:sp>
        <p:nvSpPr>
          <p:cNvPr id="32" name=""/>
          <p:cNvSpPr txBox="1"/>
          <p:nvPr/>
        </p:nvSpPr>
        <p:spPr>
          <a:xfrm>
            <a:off x="733425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上質でスタイリッシュな脚デザイン
上質感のあるブロンズのアルミ形状が魅力です。脚からキャスターまでの一体感のあるデザインが、洗練された印象を引き立て、機能性と美しさを両立させています。]]></a:t>
            </a:r>
          </a:p>
        </p:txBody>
      </p:sp>
      <p:pic>
        <p:nvPicPr>
          <p:cNvPr id="33" name="Particular Point Image 4" descr="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34500" y="238125"/>
            <a:ext cx="1514475" cy="1009650"/>
          </a:xfrm>
          <a:prstGeom prst="rect">
            <a:avLst/>
          </a:prstGeom>
          <a:noFill/>
        </p:spPr>
      </p:pic>
      <p:sp>
        <p:nvSpPr>
          <p:cNvPr id="34" name=""/>
          <p:cNvSpPr txBox="1"/>
          <p:nvPr/>
        </p:nvSpPr>
        <p:spPr>
          <a:xfrm>
            <a:off x="9334500" y="13430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環境負荷の軽減を目指し、分解しやすい設計と再利用可能な素材を採用しています。再生材や再生可能な素材を活 用することで、環境に配慮しながら、耐久性とデザイン性を両立させています。FSC®認証製品です。]]></a:t>
            </a:r>
          </a:p>
        </p:txBody>
      </p:sp>
      <p:pic>
        <p:nvPicPr>
          <p:cNvPr id="35" name="Particular Point Image 5" descr="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53750" y="238125"/>
            <a:ext cx="1514475" cy="1009650"/>
          </a:xfrm>
          <a:prstGeom prst="rect">
            <a:avLst/>
          </a:prstGeom>
          <a:noFill/>
        </p:spPr>
      </p:pic>
      <p:sp>
        <p:nvSpPr>
          <p:cNvPr id="36" name=""/>
          <p:cNvSpPr txBox="1"/>
          <p:nvPr/>
        </p:nvSpPr>
        <p:spPr>
          <a:xfrm>
            <a:off x="10953750" y="13430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シンクロロッキング機能
2段階で固定可能なシンクロロッキング機能です。]]></a:t>
            </a:r>
          </a:p>
        </p:txBody>
      </p:sp>
      <p:pic>
        <p:nvPicPr>
          <p:cNvPr id="37" name="Particular Point Image 6" descr="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573000" y="238125"/>
            <a:ext cx="1514475" cy="1009650"/>
          </a:xfrm>
          <a:prstGeom prst="rect">
            <a:avLst/>
          </a:prstGeom>
          <a:noFill/>
        </p:spPr>
      </p:pic>
      <p:sp>
        <p:nvSpPr>
          <p:cNvPr id="38" name=""/>
          <p:cNvSpPr txBox="1"/>
          <p:nvPr/>
        </p:nvSpPr>
        <p:spPr>
          <a:xfrm>
            <a:off x="12573000" y="13430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昇降機能
座の昇降が可能です。]]></a:t>
            </a:r>
          </a:p>
        </p:txBody>
      </p:sp>
      <p:pic>
        <p:nvPicPr>
          <p:cNvPr id="39" name="Particular Point Image 7" descr="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334500" y="3095625"/>
            <a:ext cx="1514475" cy="1009650"/>
          </a:xfrm>
          <a:prstGeom prst="rect">
            <a:avLst/>
          </a:prstGeom>
          <a:noFill/>
        </p:spPr>
      </p:pic>
      <p:sp>
        <p:nvSpPr>
          <p:cNvPr id="40" name=""/>
          <p:cNvSpPr txBox="1"/>
          <p:nvPr/>
        </p:nvSpPr>
        <p:spPr>
          <a:xfrm>
            <a:off x="9334500" y="42005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モールドウレタン座
座面には、長時間座っていても疲れにくいモールドウレタンを使用しています。]]></a:t>
            </a:r>
          </a:p>
        </p:txBody>
      </p:sp>
      <p:pic>
        <p:nvPicPr>
          <p:cNvPr id="41" name="Particular Point Image 8" descr="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953750" y="3095625"/>
            <a:ext cx="1514475" cy="1009650"/>
          </a:xfrm>
          <a:prstGeom prst="rect">
            <a:avLst/>
          </a:prstGeom>
          <a:noFill/>
        </p:spPr>
      </p:pic>
      <p:sp>
        <p:nvSpPr>
          <p:cNvPr id="42" name=""/>
          <p:cNvSpPr txBox="1"/>
          <p:nvPr/>
        </p:nvSpPr>
        <p:spPr>
          <a:xfrm>
            <a:off x="10953750" y="4200525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ロックレバー
左のレバーでリクライニングのロックを調整、右のレバーを回転させることでロッキング反力の強弱を調整できます。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4">
  <a:themeElements>
    <a:clrScheme name="Theme8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2026-03-24T06:59:24Z</dcterms:created>
  <dcterms:modified xsi:type="dcterms:W3CDTF">2026-03-24T06:59:24Z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