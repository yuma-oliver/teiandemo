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A2CFD1-723D-26EF-C9B5-803F765D8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E8341EE-D8E6-6D92-C9FF-18381472A3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C79AB2-1E8E-62EC-A0CA-D92A050CB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F2BD-A6E4-4565-826E-0D0E7FD4AF31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979129-4350-AF4C-2499-71DB76F2D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32D762-12F7-8233-3715-946D70E30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52AD4-5FDB-4E00-95E0-91D4205227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9421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35FAF0-9313-6970-AD10-5BAEB7B20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2D09C4-A145-65D7-2317-2C6296A46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76E26E-96AA-C2D2-D057-96785F19F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F2BD-A6E4-4565-826E-0D0E7FD4AF31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DC566A-633C-47F0-651B-A0BC9FA2D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CF26A3-2038-9778-831C-E4F29A643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52AD4-5FDB-4E00-95E0-91D4205227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7809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27271D-4CB3-DDAC-9C8E-87C9B1BFC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8DB9B5-BD22-8A75-D5C1-100893C06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05CBE7-69C6-11BB-1833-DBDA3C68D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F2BD-A6E4-4565-826E-0D0E7FD4AF31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7FEABF-A9EF-FB64-B90B-9F86A756B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D2FD68-1C71-5955-F365-78D9EB14E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52AD4-5FDB-4E00-95E0-91D4205227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3450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6CBC3B-2350-E933-BAD5-885669C5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BB25D3-6218-2C05-D864-EFBBA13435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14EF2D1-FF32-1577-9458-F48950701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F23D09-95F3-D5DE-C4DB-BA5179561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F2BD-A6E4-4565-826E-0D0E7FD4AF31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185774-FA7A-FCBC-654C-E379A7E60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3170DE0-26FD-8D28-A1BE-0A8CF7FA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52AD4-5FDB-4E00-95E0-91D4205227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230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EB5BA6-9D57-EFD6-8E13-76D29F18C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05332A-B8AE-4261-4D6B-1B3B550AC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7E2CF53-E67C-DB15-1888-DCE0695D8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C9B4B2D-0EFD-311B-EC76-B146187377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AC50195-9C9F-7104-8859-1188C0AD57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E4852D8-7C4C-96F1-E79F-4923D4224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F2BD-A6E4-4565-826E-0D0E7FD4AF31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49E71F1-354D-83CC-4107-926B955E1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BFADE14-C446-3939-51D5-B27A607CA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52AD4-5FDB-4E00-95E0-91D4205227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3898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C2FB7A-691E-0386-CD6F-865808C50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D31C3CF-877A-A8F1-640A-307EAB0ED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F2BD-A6E4-4565-826E-0D0E7FD4AF31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E41C8E-B511-7FEB-320C-E9239BEC2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878E81C-1CFD-084D-D5C1-2E5653A3A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52AD4-5FDB-4E00-95E0-91D4205227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1062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88D7644-6263-6FBF-F1AB-236FFF416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F2BD-A6E4-4565-826E-0D0E7FD4AF31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FE39046-B46A-D7D6-5227-31E0998D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0199964-6540-C18D-CF06-F803B85E2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52AD4-5FDB-4E00-95E0-91D4205227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7206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921D4E-77CF-9696-05EA-645FB9399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D18D96-F683-F695-1CF1-B652C1E98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891D135-CC8E-D5E1-7EDA-63509F9C3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CC5AF6-FBD1-9EC3-6571-C03449AEA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F2BD-A6E4-4565-826E-0D0E7FD4AF31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455B86-B6AA-3020-80D8-90817E6CC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667AA28-0276-C6B5-2229-2FDE7450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52AD4-5FDB-4E00-95E0-91D4205227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8027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A46CAF-AF30-95D9-1F3E-5DACC9F39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87194F6-4E78-89C0-3EBA-310F89AA2D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9EE814E-7761-917D-419D-53BC25334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F6BA19D-555F-99EB-1ECF-32AA0238F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F2BD-A6E4-4565-826E-0D0E7FD4AF31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329604-FD03-4925-8FD5-B04AE1882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5EFDEA0-E56D-A94C-8D8F-C7C1D5A3F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52AD4-5FDB-4E00-95E0-91D4205227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5281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EFC558-06A6-34D9-19BB-221452F87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ED8EC81-B69C-067D-A36F-6363CA624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6513EC-586C-72F4-8155-56106B3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F2BD-A6E4-4565-826E-0D0E7FD4AF31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5ABB4F-AA2F-5509-0314-4C704E047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6BB09F-ADD4-2EBB-7F93-1097CEB10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52AD4-5FDB-4E00-95E0-91D4205227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8365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16D5659-7CBF-383C-3801-9B200E8CB1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F4F3D71-67F7-14E8-9B21-2DFB21A1A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D8A52D-9205-554A-B44A-E0D3526E4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F2BD-A6E4-4565-826E-0D0E7FD4AF31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4D0320-21E2-7DE2-343A-F37B39F57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F4F62D-EAF7-02C3-D64B-3D3C66805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52AD4-5FDB-4E00-95E0-91D4205227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2303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6619875"/>
          <a:ext cx="4438650" cy="6810375"/>
          <a:chOff x="285750" y="6619875"/>
          <a:chExt cx="4438650" cy="6810375"/>
        </a:xfrm>
      </p:grpSpPr>
      <p:pic>
        <p:nvPicPr>
          <p:cNvPr id="2" name="Footer Logo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619875"/>
            <a:ext cx="762000" cy="190500"/>
          </a:xfrm>
          <a:prstGeom prst="rect">
            <a:avLst/>
          </a:prstGeom>
          <a:noFill/>
        </p:spPr>
      </p:pic>
      <p:sp>
        <p:nvSpPr>
          <p:cNvPr id="3" name="テキスト ボックス 2"/>
          <p:cNvSpPr txBox="1"/>
          <p:nvPr/>
        </p:nvSpPr>
        <p:spPr>
          <a:xfrm>
            <a:off x="1206501" y="6677025"/>
            <a:ext cx="723900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FFFFFF">
                    <a:alpha val="100000"/>
                  </a:srgbClr>
                </a:solidFill>
                <a:latin typeface="Yu Gothic"/>
              </a:rPr>
              <a:t>関係者外秘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930400" y="6677025"/>
            <a:ext cx="8128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7F7F7F">
                    <a:alpha val="100000"/>
                  </a:srgbClr>
                </a:solidFill>
                <a:latin typeface="Century Gothic"/>
              </a:rPr>
              <a:t>Confidential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743200" y="6677025"/>
            <a:ext cx="3175000" cy="114300"/>
          </a:xfrm>
          <a:prstGeom prst="rect">
            <a:avLst/>
          </a:prstGeom>
          <a:noFill/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7F7F7F">
                    <a:alpha val="100000"/>
                  </a:srgbClr>
                </a:solidFill>
                <a:latin typeface="Century Gothic"/>
              </a:rPr>
              <a:t>© OLIVER CORPORATION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65651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A3AB15A-B056-1028-4A2E-1A5775498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F7A405-FA37-CDF3-5B75-061DFE843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36F2E1-E113-0B51-1058-0A9D3BE975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AAF2BD-A6E4-4565-826E-0D0E7FD4AF31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4D5D9C-5734-1943-B4F7-3CE69B87C5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B37BC7-EC6D-17BF-B4DE-E8962D4759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C52AD4-5FDB-4E00-95E0-91D4205227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991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hyperlink" Target="https://www.oliverinc.co.jp/products/detail?id=SCUA160ACBOKCBK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jpg"/><Relationship Id="rId18" Type="http://schemas.openxmlformats.org/officeDocument/2006/relationships/image" Target="../media/image25.jp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jpg"/><Relationship Id="rId17" Type="http://schemas.openxmlformats.org/officeDocument/2006/relationships/image" Target="../media/image24.jpg"/><Relationship Id="rId2" Type="http://schemas.openxmlformats.org/officeDocument/2006/relationships/hyperlink" Target="https://www.oliverinc.co.jp/products/detail?id=SCW106ANBACG" TargetMode="External"/><Relationship Id="rId16" Type="http://schemas.openxmlformats.org/officeDocument/2006/relationships/image" Target="../media/image23.jpg"/><Relationship Id="rId20" Type="http://schemas.openxmlformats.org/officeDocument/2006/relationships/image" Target="../media/image27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18.jpg"/><Relationship Id="rId5" Type="http://schemas.openxmlformats.org/officeDocument/2006/relationships/image" Target="../media/image12.png"/><Relationship Id="rId15" Type="http://schemas.openxmlformats.org/officeDocument/2006/relationships/image" Target="../media/image22.jpg"/><Relationship Id="rId10" Type="http://schemas.openxmlformats.org/officeDocument/2006/relationships/image" Target="../media/image17.jpg"/><Relationship Id="rId19" Type="http://schemas.openxmlformats.org/officeDocument/2006/relationships/image" Target="../media/image26.jpg"/><Relationship Id="rId4" Type="http://schemas.openxmlformats.org/officeDocument/2006/relationships/image" Target="../media/image11.png"/><Relationship Id="rId9" Type="http://schemas.openxmlformats.org/officeDocument/2006/relationships/image" Target="../media/image16.jpg"/><Relationship Id="rId14" Type="http://schemas.openxmlformats.org/officeDocument/2006/relationships/image" Target="../media/image2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oliverinc.co.jp/products/detail?id=SOG960A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jpg"/><Relationship Id="rId5" Type="http://schemas.openxmlformats.org/officeDocument/2006/relationships/image" Target="../media/image28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3" Type="http://schemas.openxmlformats.org/officeDocument/2006/relationships/image" Target="../media/image30.jpg"/><Relationship Id="rId7" Type="http://schemas.openxmlformats.org/officeDocument/2006/relationships/image" Target="../media/image34.jpg"/><Relationship Id="rId2" Type="http://schemas.openxmlformats.org/officeDocument/2006/relationships/hyperlink" Target="https://www.oliverinc.co.jp/products/detail?id=STWH820COMSLWH820COM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10" Type="http://schemas.openxmlformats.org/officeDocument/2006/relationships/image" Target="../media/image37.jpg"/><Relationship Id="rId4" Type="http://schemas.openxmlformats.org/officeDocument/2006/relationships/image" Target="../media/image31.jpg"/><Relationship Id="rId9" Type="http://schemas.openxmlformats.org/officeDocument/2006/relationships/image" Target="../media/image36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13" Type="http://schemas.openxmlformats.org/officeDocument/2006/relationships/image" Target="../media/image39.png"/><Relationship Id="rId3" Type="http://schemas.openxmlformats.org/officeDocument/2006/relationships/image" Target="../media/image30.jpg"/><Relationship Id="rId7" Type="http://schemas.openxmlformats.org/officeDocument/2006/relationships/image" Target="../media/image36.jpg"/><Relationship Id="rId12" Type="http://schemas.openxmlformats.org/officeDocument/2006/relationships/image" Target="../media/image2.png"/><Relationship Id="rId2" Type="http://schemas.openxmlformats.org/officeDocument/2006/relationships/hyperlink" Target="https://www.oliverinc.co.jp/products/detail?id=STWH820COMSLWH820COM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jpg"/><Relationship Id="rId11" Type="http://schemas.openxmlformats.org/officeDocument/2006/relationships/image" Target="../media/image11.png"/><Relationship Id="rId5" Type="http://schemas.openxmlformats.org/officeDocument/2006/relationships/image" Target="../media/image34.jpg"/><Relationship Id="rId10" Type="http://schemas.openxmlformats.org/officeDocument/2006/relationships/image" Target="../media/image38.png"/><Relationship Id="rId4" Type="http://schemas.openxmlformats.org/officeDocument/2006/relationships/image" Target="../media/image33.jp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58250" cy="6477000"/>
          <a:chOff x="285750" y="190500"/>
          <a:chExt cx="8858250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S・CU-A160</a:t>
            </a:r>
          </a:p>
        </p:txBody>
      </p:sp>
      <p:pic>
        <p:nvPicPr>
          <p:cNvPr id="3" name="Ma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Product 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5" name="Product 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876" y="1333500"/>
            <a:ext cx="2085975" cy="1409700"/>
          </a:xfrm>
          <a:prstGeom prst="rect">
            <a:avLst/>
          </a:prstGeom>
          <a:noFill/>
        </p:spPr>
      </p:pic>
      <p:pic>
        <p:nvPicPr>
          <p:cNvPr id="6" name="Product 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333501"/>
            <a:ext cx="2095500" cy="1571625"/>
          </a:xfrm>
          <a:prstGeom prst="rect">
            <a:avLst/>
          </a:prstGeom>
          <a:noFill/>
        </p:spPr>
      </p:pic>
      <p:pic>
        <p:nvPicPr>
          <p:cNvPr id="7" name="Product 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9125" y="1333501"/>
            <a:ext cx="2095500" cy="1571625"/>
          </a:xfrm>
          <a:prstGeom prst="rect">
            <a:avLst/>
          </a:prstGeom>
          <a:noFill/>
        </p:spPr>
      </p:pic>
      <p:sp>
        <p:nvSpPr>
          <p:cNvPr id="8" name="テキスト ボックス 7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アウトドアチェア（ラウンジ・屋外用・BK）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S・CU-A160・AC・B・OKC・BK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カラーバリエーション：BE・GP・BK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サイズ(mm)：W610・D650・H825・SH430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質量：4kg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素材：主材：PPロープ・φ22アルミパイプ・粉体塗装</a:t>
            </a:r>
          </a:p>
          <a:p>
            <a:pPr fontAlgn="base"/>
            <a:r>
              <a:rPr lang="en-US" sz="800">
                <a:solidFill>
                  <a:srgbClr val="7F7F7F">
                    <a:alpha val="100000"/>
                  </a:srgbClr>
                </a:solidFill>
                <a:latin typeface="Yu Gothic"/>
              </a:rPr>
              <a:t>
※座クッションは屋内用・屋外用で仕様が異なります。
※屋内用クッションは、耐水性がありませんので、ご使用時以外は屋内に保管ください。屋外でご使用の場合は、屋外用クッションをご注文ください。</a:t>
            </a:r>
          </a:p>
        </p:txBody>
      </p:sp>
      <p:pic>
        <p:nvPicPr>
          <p:cNvPr id="9" name="Color Chip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726" y="4686301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2651" y="4686301"/>
            <a:ext cx="142875" cy="142875"/>
          </a:xfrm>
          <a:prstGeom prst="rect">
            <a:avLst/>
          </a:prstGeom>
          <a:noFill/>
        </p:spPr>
      </p:pic>
      <p:sp>
        <p:nvSpPr>
          <p:cNvPr id="11" name="テキスト ボックス 10"/>
          <p:cNvSpPr txBox="1"/>
          <p:nvPr/>
        </p:nvSpPr>
        <p:spPr>
          <a:xfrm>
            <a:off x="5715000" y="3810000"/>
            <a:ext cx="952500" cy="338554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1600">
                <a:solidFill>
                  <a:srgbClr val="333333">
                    <a:alpha val="100000"/>
                  </a:srgbClr>
                </a:solidFill>
                <a:latin typeface="Century Gothic"/>
              </a:rPr>
              <a:t>Point</a:t>
            </a:r>
          </a:p>
        </p:txBody>
      </p:sp>
      <p:cxnSp>
        <p:nvCxnSpPr>
          <p:cNvPr id="12" name="直線コネクタ 11"/>
          <p:cNvCxnSpPr/>
          <p:nvPr/>
        </p:nvCxnSpPr>
        <p:spPr>
          <a:xfrm>
            <a:off x="5715000" y="4095751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Particular Point Imag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1" y="4191000"/>
            <a:ext cx="1514475" cy="1009650"/>
          </a:xfrm>
          <a:prstGeom prst="rect">
            <a:avLst/>
          </a:prstGeom>
          <a:noFill/>
        </p:spPr>
      </p:pic>
      <p:sp>
        <p:nvSpPr>
          <p:cNvPr id="14" name="テキスト ボックス 13"/>
          <p:cNvSpPr txBox="1"/>
          <p:nvPr/>
        </p:nvSpPr>
        <p:spPr>
          <a:xfrm>
            <a:off x="5715000" y="5295900"/>
            <a:ext cx="1524000" cy="36933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ハンモックのような快適な座り心地。</a:t>
            </a:r>
          </a:p>
        </p:txBody>
      </p:sp>
    </p:spTree>
    <p:extLst>
      <p:ext uri="{BB962C8B-B14F-4D97-AF65-F5344CB8AC3E}">
        <p14:creationId xmlns:p14="http://schemas.microsoft.com/office/powerpoint/2010/main" val="3379524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-1428750" y="190500"/>
          <a:ext cx="12477750" cy="6477000"/>
          <a:chOff x="-1428750" y="190500"/>
          <a:chExt cx="12477750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S・CW-106A</a:t>
            </a:r>
          </a:p>
        </p:txBody>
      </p:sp>
      <p:pic>
        <p:nvPicPr>
          <p:cNvPr id="3" name="Ma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Ma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238125"/>
            <a:ext cx="171450" cy="171450"/>
          </a:xfrm>
          <a:prstGeom prst="rect">
            <a:avLst/>
          </a:prstGeom>
          <a:noFill/>
        </p:spPr>
      </p:pic>
      <p:pic>
        <p:nvPicPr>
          <p:cNvPr id="5" name="Ma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1" y="238125"/>
            <a:ext cx="161925" cy="171450"/>
          </a:xfrm>
          <a:prstGeom prst="rect">
            <a:avLst/>
          </a:prstGeom>
          <a:noFill/>
        </p:spPr>
      </p:pic>
      <p:pic>
        <p:nvPicPr>
          <p:cNvPr id="6" name="Mark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9776" y="238125"/>
            <a:ext cx="180975" cy="171450"/>
          </a:xfrm>
          <a:prstGeom prst="rect">
            <a:avLst/>
          </a:prstGeom>
          <a:noFill/>
        </p:spPr>
      </p:pic>
      <p:pic>
        <p:nvPicPr>
          <p:cNvPr id="7" name="Mark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9276" y="238125"/>
            <a:ext cx="180975" cy="171450"/>
          </a:xfrm>
          <a:prstGeom prst="rect">
            <a:avLst/>
          </a:prstGeom>
          <a:noFill/>
        </p:spPr>
      </p:pic>
      <p:pic>
        <p:nvPicPr>
          <p:cNvPr id="8" name="Mark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8775" y="238125"/>
            <a:ext cx="171450" cy="171450"/>
          </a:xfrm>
          <a:prstGeom prst="rect">
            <a:avLst/>
          </a:prstGeom>
          <a:noFill/>
        </p:spPr>
      </p:pic>
      <p:pic>
        <p:nvPicPr>
          <p:cNvPr id="9" name="Product Imag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10" name="Product Imag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52876" y="1333501"/>
            <a:ext cx="2085975" cy="1609725"/>
          </a:xfrm>
          <a:prstGeom prst="rect">
            <a:avLst/>
          </a:prstGeom>
          <a:noFill/>
        </p:spPr>
      </p:pic>
      <p:pic>
        <p:nvPicPr>
          <p:cNvPr id="11" name="Product Image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1" y="1333501"/>
            <a:ext cx="2085975" cy="1609725"/>
          </a:xfrm>
          <a:prstGeom prst="rect">
            <a:avLst/>
          </a:prstGeom>
          <a:noFill/>
        </p:spPr>
      </p:pic>
      <p:pic>
        <p:nvPicPr>
          <p:cNvPr id="12" name="Product Image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39126" y="1333500"/>
            <a:ext cx="1495425" cy="2095500"/>
          </a:xfrm>
          <a:prstGeom prst="rect">
            <a:avLst/>
          </a:prstGeom>
          <a:noFill/>
        </p:spPr>
      </p:pic>
      <p:pic>
        <p:nvPicPr>
          <p:cNvPr id="13" name="Product Image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428750" y="238125"/>
            <a:ext cx="1038225" cy="800100"/>
          </a:xfrm>
          <a:prstGeom prst="rect">
            <a:avLst/>
          </a:prstGeom>
          <a:noFill/>
        </p:spPr>
      </p:pic>
      <p:sp>
        <p:nvSpPr>
          <p:cNvPr id="14" name="テキスト ボックス 13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高齢者施設向けチェア（全肘・グリップ付・NB）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S・CW-106A・NB・AC・G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カラーバリエーション：MB・NB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サイズ(mm)：W550・D600・H790・SH445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質量：9.4kg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素材：フレーム：ラバーウッド成型合板・ウレタン塗装</a:t>
            </a:r>
          </a:p>
        </p:txBody>
      </p:sp>
      <p:pic>
        <p:nvPicPr>
          <p:cNvPr id="15" name="Color Chip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90726" y="4686301"/>
            <a:ext cx="142875" cy="142875"/>
          </a:xfrm>
          <a:prstGeom prst="rect">
            <a:avLst/>
          </a:prstGeom>
          <a:noFill/>
        </p:spPr>
      </p:pic>
      <p:pic>
        <p:nvPicPr>
          <p:cNvPr id="16" name="Color Chip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52651" y="4686301"/>
            <a:ext cx="142875" cy="142875"/>
          </a:xfrm>
          <a:prstGeom prst="rect">
            <a:avLst/>
          </a:prstGeom>
          <a:noFill/>
        </p:spPr>
      </p:pic>
      <p:sp>
        <p:nvSpPr>
          <p:cNvPr id="17" name="テキスト ボックス 16"/>
          <p:cNvSpPr txBox="1"/>
          <p:nvPr/>
        </p:nvSpPr>
        <p:spPr>
          <a:xfrm>
            <a:off x="5715000" y="3810000"/>
            <a:ext cx="952500" cy="338554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1600">
                <a:solidFill>
                  <a:srgbClr val="333333">
                    <a:alpha val="100000"/>
                  </a:srgbClr>
                </a:solidFill>
                <a:latin typeface="Century Gothic"/>
              </a:rPr>
              <a:t>Point</a:t>
            </a:r>
          </a:p>
        </p:txBody>
      </p:sp>
      <p:cxnSp>
        <p:nvCxnSpPr>
          <p:cNvPr id="18" name="直線コネクタ 17"/>
          <p:cNvCxnSpPr/>
          <p:nvPr/>
        </p:nvCxnSpPr>
        <p:spPr>
          <a:xfrm>
            <a:off x="5715000" y="4095751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" name="Particular Point Image 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1" y="4191000"/>
            <a:ext cx="1514475" cy="1009650"/>
          </a:xfrm>
          <a:prstGeom prst="rect">
            <a:avLst/>
          </a:prstGeom>
          <a:noFill/>
        </p:spPr>
      </p:pic>
      <p:sp>
        <p:nvSpPr>
          <p:cNvPr id="20" name="テキスト ボックス 19"/>
          <p:cNvSpPr txBox="1"/>
          <p:nvPr/>
        </p:nvSpPr>
        <p:spPr>
          <a:xfrm>
            <a:off x="5715000" y="5295901"/>
            <a:ext cx="1524000" cy="6463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椅子の移動の際に便利な取手が付いています。※人が座った状態での移動はお控えください。</a:t>
            </a:r>
          </a:p>
        </p:txBody>
      </p:sp>
      <p:pic>
        <p:nvPicPr>
          <p:cNvPr id="21" name="Particular Point Image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86626" y="4191000"/>
            <a:ext cx="1514475" cy="1009650"/>
          </a:xfrm>
          <a:prstGeom prst="rect">
            <a:avLst/>
          </a:prstGeom>
          <a:noFill/>
        </p:spPr>
      </p:pic>
      <p:sp>
        <p:nvSpPr>
          <p:cNvPr id="22" name="テキスト ボックス 21"/>
          <p:cNvSpPr txBox="1"/>
          <p:nvPr/>
        </p:nvSpPr>
        <p:spPr>
          <a:xfrm>
            <a:off x="7286625" y="5295901"/>
            <a:ext cx="1524000" cy="5078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肘の下面は丸く面取りを施し、握りやすくしました。</a:t>
            </a:r>
          </a:p>
        </p:txBody>
      </p:sp>
      <p:pic>
        <p:nvPicPr>
          <p:cNvPr id="23" name="Particular Point Image 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58251" y="4191000"/>
            <a:ext cx="1514475" cy="1009650"/>
          </a:xfrm>
          <a:prstGeom prst="rect">
            <a:avLst/>
          </a:prstGeom>
          <a:noFill/>
        </p:spPr>
      </p:pic>
      <p:sp>
        <p:nvSpPr>
          <p:cNvPr id="24" name="テキスト ボックス 23"/>
          <p:cNvSpPr txBox="1"/>
          <p:nvPr/>
        </p:nvSpPr>
        <p:spPr>
          <a:xfrm>
            <a:off x="8858250" y="5295901"/>
            <a:ext cx="1524000" cy="6463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背と肘の下に開口部を設けたゴミが溜まりにくい設計で、メンテナンスも容易です。</a:t>
            </a:r>
          </a:p>
        </p:txBody>
      </p:sp>
      <p:pic>
        <p:nvPicPr>
          <p:cNvPr id="25" name="Particular Point Image 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382500" y="238125"/>
            <a:ext cx="1514475" cy="1009650"/>
          </a:xfrm>
          <a:prstGeom prst="rect">
            <a:avLst/>
          </a:prstGeom>
          <a:noFill/>
        </p:spPr>
      </p:pic>
      <p:sp>
        <p:nvSpPr>
          <p:cNvPr id="26" name="テキスト ボックス 25"/>
          <p:cNvSpPr txBox="1"/>
          <p:nvPr/>
        </p:nvSpPr>
        <p:spPr>
          <a:xfrm>
            <a:off x="12382500" y="1343026"/>
            <a:ext cx="1524000" cy="5078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お使いになる方の体型に合わせ、背の高さを選べます。</a:t>
            </a:r>
          </a:p>
        </p:txBody>
      </p:sp>
      <p:pic>
        <p:nvPicPr>
          <p:cNvPr id="27" name="Particular Point Image 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001750" y="238125"/>
            <a:ext cx="1514475" cy="1009650"/>
          </a:xfrm>
          <a:prstGeom prst="rect">
            <a:avLst/>
          </a:prstGeom>
          <a:noFill/>
        </p:spPr>
      </p:pic>
      <p:sp>
        <p:nvSpPr>
          <p:cNvPr id="28" name="テキスト ボックス 27"/>
          <p:cNvSpPr txBox="1"/>
          <p:nvPr/>
        </p:nvSpPr>
        <p:spPr>
          <a:xfrm>
            <a:off x="14001750" y="1343025"/>
            <a:ext cx="1524000" cy="36933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4脚までスタッキングできます。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2970162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58250" cy="6477000"/>
          <a:chOff x="285750" y="190500"/>
          <a:chExt cx="8858250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S・OG-960</a:t>
            </a:r>
          </a:p>
        </p:txBody>
      </p:sp>
      <p:pic>
        <p:nvPicPr>
          <p:cNvPr id="3" name="Ma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Ma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238125"/>
            <a:ext cx="171450" cy="171450"/>
          </a:xfrm>
          <a:prstGeom prst="rect">
            <a:avLst/>
          </a:prstGeom>
          <a:noFill/>
        </p:spPr>
      </p:pic>
      <p:pic>
        <p:nvPicPr>
          <p:cNvPr id="5" name="Ma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238125"/>
            <a:ext cx="171450" cy="171450"/>
          </a:xfrm>
          <a:prstGeom prst="rect">
            <a:avLst/>
          </a:prstGeom>
          <a:noFill/>
        </p:spPr>
      </p:pic>
      <p:pic>
        <p:nvPicPr>
          <p:cNvPr id="6" name="Product 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sp>
        <p:nvSpPr>
          <p:cNvPr id="7" name="テキスト ボックス 6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パンフレットスタンド（2列4段）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S・OG-960・A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サイズ(mm)：W510・D460・H1335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質量：10.7kg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素材：主材：スチールパイプ・粉体塗装</a:t>
            </a:r>
          </a:p>
        </p:txBody>
      </p:sp>
    </p:spTree>
    <p:extLst>
      <p:ext uri="{BB962C8B-B14F-4D97-AF65-F5344CB8AC3E}">
        <p14:creationId xmlns:p14="http://schemas.microsoft.com/office/powerpoint/2010/main" val="1843831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6657975" cy="6477000"/>
          <a:chOff x="285750" y="190500"/>
          <a:chExt cx="6657975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S・TW-H820/S・LW-H820</a:t>
            </a:r>
          </a:p>
        </p:txBody>
      </p:sp>
      <p:pic>
        <p:nvPicPr>
          <p:cNvPr id="3" name="Product 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4" name="Product 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75" y="1333500"/>
            <a:ext cx="2095500" cy="2095500"/>
          </a:xfrm>
          <a:prstGeom prst="rect">
            <a:avLst/>
          </a:prstGeom>
          <a:noFill/>
        </p:spPr>
      </p:pic>
      <p:pic>
        <p:nvPicPr>
          <p:cNvPr id="5" name="Product 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1" y="1333500"/>
            <a:ext cx="2085975" cy="1390650"/>
          </a:xfrm>
          <a:prstGeom prst="rect">
            <a:avLst/>
          </a:prstGeom>
          <a:noFill/>
        </p:spPr>
      </p:pic>
      <p:sp>
        <p:nvSpPr>
          <p:cNvPr id="6" name="テキスト ボックス 5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デスク 突板（W3600・D1400・OM）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S・TW-H820・C・OM/S・LW-H820・C・OM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カラーバリエーション：OM・OV・WNV・PWH・OBK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サイズ(mm)：W3600・D1400・H720</a:t>
            </a:r>
          </a:p>
        </p:txBody>
      </p:sp>
      <p:pic>
        <p:nvPicPr>
          <p:cNvPr id="7" name="Color Chip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726" y="4686301"/>
            <a:ext cx="142875" cy="142875"/>
          </a:xfrm>
          <a:prstGeom prst="rect">
            <a:avLst/>
          </a:prstGeom>
          <a:noFill/>
        </p:spPr>
      </p:pic>
      <p:pic>
        <p:nvPicPr>
          <p:cNvPr id="8" name="Color Chip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2651" y="4686301"/>
            <a:ext cx="142875" cy="142875"/>
          </a:xfrm>
          <a:prstGeom prst="rect">
            <a:avLst/>
          </a:prstGeom>
          <a:noFill/>
        </p:spPr>
      </p:pic>
      <p:pic>
        <p:nvPicPr>
          <p:cNvPr id="9" name="Color Chip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4576" y="4686301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6501" y="4686301"/>
            <a:ext cx="142875" cy="142875"/>
          </a:xfrm>
          <a:prstGeom prst="rect">
            <a:avLst/>
          </a:prstGeom>
          <a:noFill/>
        </p:spPr>
      </p:pic>
      <p:pic>
        <p:nvPicPr>
          <p:cNvPr id="11" name="Color Chip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8426" y="4686301"/>
            <a:ext cx="142875" cy="1428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90936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95250"/>
          <a:ext cx="8858250" cy="3524250"/>
          <a:chOff x="285750" y="95250"/>
          <a:chExt cx="8858250" cy="352425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1619250" cy="36933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b="1">
                <a:solidFill>
                  <a:srgbClr val="0C0C0C">
                    <a:alpha val="100000"/>
                  </a:srgbClr>
                </a:solidFill>
                <a:latin typeface="Yu Gothic"/>
              </a:rPr>
              <a:t>詳細スペック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429000" y="209551"/>
            <a:ext cx="3810000" cy="307777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14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S・TW-H820/S・LW-H820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809750" y="523875"/>
            <a:ext cx="66675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800" b="1">
                <a:solidFill>
                  <a:srgbClr val="B12704">
                    <a:alpha val="100000"/>
                  </a:srgbClr>
                </a:solidFill>
                <a:latin typeface="Yu Gothic"/>
              </a:rPr>
              <a:t>※必ず以下のセットでご注文ください</a:t>
            </a:r>
          </a:p>
        </p:txBody>
      </p:sp>
      <p:pic>
        <p:nvPicPr>
          <p:cNvPr id="5" name="Product 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95250"/>
            <a:ext cx="666750" cy="666750"/>
          </a:xfrm>
          <a:prstGeom prst="rect">
            <a:avLst/>
          </a:prstGeom>
          <a:noFill/>
        </p:spPr>
      </p:pic>
      <p:sp>
        <p:nvSpPr>
          <p:cNvPr id="6" name="テキスト ボックス 5"/>
          <p:cNvSpPr txBox="1"/>
          <p:nvPr/>
        </p:nvSpPr>
        <p:spPr>
          <a:xfrm>
            <a:off x="1809750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14300" tIns="171450" rIns="114300" bIns="171450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デスク 天板 突板（W3600・D1400・OM）</a:t>
            </a:r>
          </a:p>
          <a:p>
            <a:pPr fontAlgn="base"/>
            <a:r>
              <a:rPr lang="en-US" sz="1000" b="1">
                <a:solidFill>
                  <a:srgbClr val="333333">
                    <a:alpha val="100000"/>
                  </a:srgbClr>
                </a:solidFill>
                <a:latin typeface="Century Gothic"/>
              </a:rPr>
              <a:t>S・TW-H820・C・OM</a:t>
            </a:r>
          </a:p>
          <a:p>
            <a:pPr fontAlgn="base"/>
            <a:endParaRPr lang="en-US" sz="1000" b="1">
              <a:solidFill>
                <a:srgbClr val="333333">
                  <a:alpha val="100000"/>
                </a:srgbClr>
              </a:solidFill>
              <a:latin typeface="Century Gothic"/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カラーバリエーション：OM・OV・WNV・PWH・OBK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サイズ(mm)：W3600・D1400・t30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質量：108kg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素材：天板：天然木突板・ウレタン塗装
木口：天然木突板・ウレタン塗装</a:t>
            </a:r>
          </a:p>
          <a:p>
            <a:pPr fontAlgn="base"/>
            <a:r>
              <a:rPr lang="en-US" sz="800">
                <a:solidFill>
                  <a:srgbClr val="7F7F7F">
                    <a:alpha val="100000"/>
                  </a:srgbClr>
                </a:solidFill>
                <a:latin typeface="Yu Gothic"/>
              </a:rPr>
              <a:t>
※脚(S･LW-H820)と組み合わせてご使用ください。</a:t>
            </a:r>
          </a:p>
        </p:txBody>
      </p:sp>
      <p:pic>
        <p:nvPicPr>
          <p:cNvPr id="7" name="Color Chip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051" y="1781176"/>
            <a:ext cx="142875" cy="142875"/>
          </a:xfrm>
          <a:prstGeom prst="rect">
            <a:avLst/>
          </a:prstGeom>
          <a:noFill/>
        </p:spPr>
      </p:pic>
      <p:pic>
        <p:nvPicPr>
          <p:cNvPr id="8" name="Color Chip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5976" y="1781176"/>
            <a:ext cx="142875" cy="142875"/>
          </a:xfrm>
          <a:prstGeom prst="rect">
            <a:avLst/>
          </a:prstGeom>
          <a:noFill/>
        </p:spPr>
      </p:pic>
      <p:pic>
        <p:nvPicPr>
          <p:cNvPr id="9" name="Color Chip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01" y="1781176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9826" y="1781176"/>
            <a:ext cx="142875" cy="142875"/>
          </a:xfrm>
          <a:prstGeom prst="rect">
            <a:avLst/>
          </a:prstGeom>
          <a:noFill/>
        </p:spPr>
      </p:pic>
      <p:pic>
        <p:nvPicPr>
          <p:cNvPr id="11" name="Color Chip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1751" y="1781176"/>
            <a:ext cx="142875" cy="142875"/>
          </a:xfrm>
          <a:prstGeom prst="rect">
            <a:avLst/>
          </a:prstGeom>
          <a:noFill/>
        </p:spPr>
      </p:pic>
      <p:pic>
        <p:nvPicPr>
          <p:cNvPr id="12" name="Mark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0" y="3209925"/>
            <a:ext cx="171450" cy="171450"/>
          </a:xfrm>
          <a:prstGeom prst="rect">
            <a:avLst/>
          </a:prstGeom>
          <a:noFill/>
        </p:spPr>
      </p:pic>
      <p:pic>
        <p:nvPicPr>
          <p:cNvPr id="13" name="Mark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500" y="3209925"/>
            <a:ext cx="171450" cy="171450"/>
          </a:xfrm>
          <a:prstGeom prst="rect">
            <a:avLst/>
          </a:prstGeom>
          <a:noFill/>
        </p:spPr>
      </p:pic>
      <p:pic>
        <p:nvPicPr>
          <p:cNvPr id="14" name="Mark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0" y="3209925"/>
            <a:ext cx="171450" cy="171450"/>
          </a:xfrm>
          <a:prstGeom prst="rect">
            <a:avLst/>
          </a:prstGeom>
          <a:noFill/>
        </p:spPr>
      </p:pic>
      <p:pic>
        <p:nvPicPr>
          <p:cNvPr id="15" name="Mark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0" y="3209925"/>
            <a:ext cx="171450" cy="171450"/>
          </a:xfrm>
          <a:prstGeom prst="rect">
            <a:avLst/>
          </a:prstGeom>
          <a:noFill/>
        </p:spPr>
      </p:pic>
      <p:pic>
        <p:nvPicPr>
          <p:cNvPr id="16" name="Mark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67000" y="3209925"/>
            <a:ext cx="171450" cy="171450"/>
          </a:xfrm>
          <a:prstGeom prst="rect">
            <a:avLst/>
          </a:prstGeom>
          <a:noFill/>
        </p:spPr>
      </p:pic>
      <p:sp>
        <p:nvSpPr>
          <p:cNvPr id="17" name="テキスト ボックス 16"/>
          <p:cNvSpPr txBox="1"/>
          <p:nvPr/>
        </p:nvSpPr>
        <p:spPr>
          <a:xfrm>
            <a:off x="4714875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14300" tIns="171450" rIns="114300" bIns="171450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デスク 脚（W3600・D1400・OM）</a:t>
            </a:r>
          </a:p>
          <a:p>
            <a:pPr fontAlgn="base"/>
            <a:r>
              <a:rPr lang="en-US" sz="1000" b="1">
                <a:solidFill>
                  <a:srgbClr val="333333">
                    <a:alpha val="100000"/>
                  </a:srgbClr>
                </a:solidFill>
                <a:latin typeface="Century Gothic"/>
              </a:rPr>
              <a:t>S・LW-H820・C・OM</a:t>
            </a:r>
          </a:p>
          <a:p>
            <a:pPr fontAlgn="base"/>
            <a:endParaRPr lang="en-US" sz="1000" b="1">
              <a:solidFill>
                <a:srgbClr val="333333">
                  <a:alpha val="100000"/>
                </a:srgbClr>
              </a:solidFill>
              <a:latin typeface="Century Gothic"/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カラーバリエーション：OM・OV・WNV・PWH・OBK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素材：脚：オーク材・ウレタン塗装</a:t>
            </a:r>
          </a:p>
          <a:p>
            <a:pPr fontAlgn="base"/>
            <a:r>
              <a:rPr lang="en-US" sz="800">
                <a:solidFill>
                  <a:srgbClr val="7F7F7F">
                    <a:alpha val="100000"/>
                  </a:srgbClr>
                </a:solidFill>
                <a:latin typeface="Yu Gothic"/>
              </a:rPr>
              <a:t>
※天板（S･TW-H820）と組み合わせてご使用ください。</a:t>
            </a:r>
          </a:p>
        </p:txBody>
      </p:sp>
      <p:pic>
        <p:nvPicPr>
          <p:cNvPr id="18" name="Color Chip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176" y="1781176"/>
            <a:ext cx="142875" cy="142875"/>
          </a:xfrm>
          <a:prstGeom prst="rect">
            <a:avLst/>
          </a:prstGeom>
          <a:noFill/>
        </p:spPr>
      </p:pic>
      <p:pic>
        <p:nvPicPr>
          <p:cNvPr id="19" name="Color Chip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1101" y="1781176"/>
            <a:ext cx="142875" cy="142875"/>
          </a:xfrm>
          <a:prstGeom prst="rect">
            <a:avLst/>
          </a:prstGeom>
          <a:noFill/>
        </p:spPr>
      </p:pic>
      <p:pic>
        <p:nvPicPr>
          <p:cNvPr id="20" name="Color Chip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3026" y="1781176"/>
            <a:ext cx="142875" cy="142875"/>
          </a:xfrm>
          <a:prstGeom prst="rect">
            <a:avLst/>
          </a:prstGeom>
          <a:noFill/>
        </p:spPr>
      </p:pic>
      <p:pic>
        <p:nvPicPr>
          <p:cNvPr id="21" name="Color Chip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4951" y="1781176"/>
            <a:ext cx="142875" cy="142875"/>
          </a:xfrm>
          <a:prstGeom prst="rect">
            <a:avLst/>
          </a:prstGeom>
          <a:noFill/>
        </p:spPr>
      </p:pic>
      <p:pic>
        <p:nvPicPr>
          <p:cNvPr id="22" name="Color Chip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6876" y="1781176"/>
            <a:ext cx="142875" cy="142875"/>
          </a:xfrm>
          <a:prstGeom prst="rect">
            <a:avLst/>
          </a:prstGeom>
          <a:noFill/>
        </p:spPr>
      </p:pic>
      <p:pic>
        <p:nvPicPr>
          <p:cNvPr id="23" name="Mark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0125" y="3209925"/>
            <a:ext cx="171450" cy="171450"/>
          </a:xfrm>
          <a:prstGeom prst="rect">
            <a:avLst/>
          </a:prstGeom>
          <a:noFill/>
        </p:spPr>
      </p:pic>
      <p:pic>
        <p:nvPicPr>
          <p:cNvPr id="24" name="Mark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0625" y="3209925"/>
            <a:ext cx="171450" cy="171450"/>
          </a:xfrm>
          <a:prstGeom prst="rect">
            <a:avLst/>
          </a:prstGeom>
          <a:noFill/>
        </p:spPr>
      </p:pic>
      <p:pic>
        <p:nvPicPr>
          <p:cNvPr id="25" name="Mark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91125" y="3209925"/>
            <a:ext cx="171450" cy="171450"/>
          </a:xfrm>
          <a:prstGeom prst="rect">
            <a:avLst/>
          </a:prstGeom>
          <a:noFill/>
        </p:spPr>
      </p:pic>
      <p:pic>
        <p:nvPicPr>
          <p:cNvPr id="26" name="Mark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81625" y="3209925"/>
            <a:ext cx="171450" cy="1714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61105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ワイド画面</PresentationFormat>
  <Paragraphs>55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Yu Gothic</vt:lpstr>
      <vt:lpstr>Yu Gothic</vt:lpstr>
      <vt:lpstr>游ゴシック Light</vt:lpstr>
      <vt:lpstr>Arial</vt:lpstr>
      <vt:lpstr>Century Gothic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谷岡佑馬</dc:creator>
  <cp:lastModifiedBy>谷岡佑馬</cp:lastModifiedBy>
  <cp:revision>1</cp:revision>
  <dcterms:created xsi:type="dcterms:W3CDTF">2026-03-19T08:54:48Z</dcterms:created>
  <dcterms:modified xsi:type="dcterms:W3CDTF">2026-03-19T08:54:48Z</dcterms:modified>
</cp:coreProperties>
</file>