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presProps" Target="presProps.xml"/>
  <Relationship Id="rId5" Type="http://schemas.openxmlformats.org/officeDocument/2006/relationships/viewProps" Target="viewProps.xml"/>
  <Relationship Id="rId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  <Relationship Id="rId2" Type="http://schemas.openxmlformats.org/officeDocument/2006/relationships/image" Target="../media/footer-logo1.png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285750" y="6619875"/>
          <a:ext cx="4438650" cy="6810375"/>
          <a:chOff x="285750" y="6619875"/>
          <a:chExt cx="4438650" cy="6810375"/>
        </a:xfrm>
      </p:grpSpPr>
      <p:pic>
        <p:nvPicPr>
          <p:cNvPr id="2" name="Footer Logo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6619875"/>
            <a:ext cx="571500" cy="190500"/>
          </a:xfrm>
          <a:prstGeom prst="rect">
            <a:avLst/>
          </a:prstGeom>
          <a:noFill/>
        </p:spPr>
      </p:pic>
      <p:sp>
        <p:nvSpPr>
          <p:cNvPr id="3" name=""/>
          <p:cNvSpPr txBox="1"/>
          <p:nvPr/>
        </p:nvSpPr>
        <p:spPr>
          <a:xfrm>
            <a:off x="904875" y="6677025"/>
            <a:ext cx="542925" cy="114300"/>
          </a:xfrm>
          <a:prstGeom prst="rect">
            <a:avLst/>
          </a:prstGeom>
          <a:solidFill>
            <a:srgbClr val="7F7F7F">
              <a:alpha val="100000"/>
            </a:srgbClr>
          </a:solidFill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FFFFFF">
                    <a:alpha val="100000"/>
                  </a:srgbClr>
                </a:solidFill>
                <a:latin typeface="Yu Gothic"/>
              </a:rPr>
              <a:t><![CDATA[関係者外秘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447800" y="6677025"/>
            <a:ext cx="609600" cy="114300"/>
          </a:xfrm>
          <a:prstGeom prst="rect">
            <a:avLst/>
          </a:prstGeom>
          <a:noFill/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7F7F7F">
                    <a:alpha val="100000"/>
                  </a:srgbClr>
                </a:solidFill>
                <a:latin typeface="Century Gothic"/>
              </a:rPr>
              <a:t><![CDATA[Confidential]]></a:t>
            </a:r>
          </a:p>
        </p:txBody>
      </p:sp>
      <p:sp>
        <p:nvSpPr>
          <p:cNvPr id="5" name=""/>
          <p:cNvSpPr txBox="1"/>
          <p:nvPr/>
        </p:nvSpPr>
        <p:spPr>
          <a:xfrm>
            <a:off x="2057400" y="6677025"/>
            <a:ext cx="2381250" cy="114300"/>
          </a:xfrm>
          <a:prstGeom prst="rect">
            <a:avLst/>
          </a:prstGeom>
          <a:noFill/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7F7F7F">
                    <a:alpha val="100000"/>
                  </a:srgbClr>
                </a:solidFill>
                <a:latin typeface="Century Gothic"/>
              </a:rPr>
              <a:t><![CDATA[© OLIVER CORPORATION All rights reserved.]]>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ooter-logo1.png"/>
  <Relationship Id="rId3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oter Logo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6619875"/>
            <a:ext cx="571500" cy="190500"/>
          </a:xfrm>
          <a:prstGeom prst="rect">
            <a:avLst/>
          </a:prstGeom>
          <a:noFill/>
        </p:spPr>
      </p:pic>
      <p:sp>
        <p:nvSpPr>
          <p:cNvPr id="3" name=""/>
          <p:cNvSpPr txBox="1"/>
          <p:nvPr/>
        </p:nvSpPr>
        <p:spPr>
          <a:xfrm>
            <a:off x="904875" y="6677025"/>
            <a:ext cx="542925" cy="114300"/>
          </a:xfrm>
          <a:prstGeom prst="rect">
            <a:avLst/>
          </a:prstGeom>
          <a:solidFill>
            <a:srgbClr val="7F7F7F">
              <a:alpha val="100000"/>
            </a:srgbClr>
          </a:solidFill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FFFFFF">
                    <a:alpha val="100000"/>
                  </a:srgbClr>
                </a:solidFill>
                <a:latin typeface="Yu Gothic"/>
              </a:rPr>
              <a:t><![CDATA[関係者外秘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447800" y="6677025"/>
            <a:ext cx="609600" cy="114300"/>
          </a:xfrm>
          <a:prstGeom prst="rect">
            <a:avLst/>
          </a:prstGeom>
          <a:noFill/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7F7F7F">
                    <a:alpha val="100000"/>
                  </a:srgbClr>
                </a:solidFill>
                <a:latin typeface="Century Gothic"/>
              </a:rPr>
              <a:t><![CDATA[Confidential]]></a:t>
            </a:r>
          </a:p>
        </p:txBody>
      </p:sp>
      <p:sp>
        <p:nvSpPr>
          <p:cNvPr id="5" name=""/>
          <p:cNvSpPr txBox="1"/>
          <p:nvPr/>
        </p:nvSpPr>
        <p:spPr>
          <a:xfrm>
            <a:off x="2057400" y="6677025"/>
            <a:ext cx="2381250" cy="114300"/>
          </a:xfrm>
          <a:prstGeom prst="rect">
            <a:avLst/>
          </a:prstGeom>
          <a:noFill/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7F7F7F">
                    <a:alpha val="100000"/>
                  </a:srgbClr>
                </a:solidFill>
                <a:latin typeface="Century Gothic"/>
              </a:rPr>
              <a:t><![CDATA[© OLIVER CORPORATION All rights reserved.]]>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463351739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ppt_169c235e8a9599.svg2.png"/>
  <Relationship Id="rId3" Type="http://schemas.openxmlformats.org/officeDocument/2006/relationships/image" Target="../media/ppt_169c235e8bf0c3.svg3.png"/>
  <Relationship Id="rId4" Type="http://schemas.openxmlformats.org/officeDocument/2006/relationships/image" Target="../media/ppt_169c235e8cb4f1.svg4.png"/>
  <Relationship Id="rId5" Type="http://schemas.openxmlformats.org/officeDocument/2006/relationships/image" Target="../media/ppt_169c235e8da78d.svg5.png"/>
  <Relationship Id="rId6" Type="http://schemas.openxmlformats.org/officeDocument/2006/relationships/image" Target="../media/ppt_169c235e8e96fe.svg6.png"/>
  <Relationship Id="rId7" Type="http://schemas.openxmlformats.org/officeDocument/2006/relationships/image" Target="../media/ppt_169c235e90243d.svg7.png"/>
  <Relationship Id="rId8" Type="http://schemas.openxmlformats.org/officeDocument/2006/relationships/image" Target="../media/ppt_169c235e921a4e8.jpg"/>
  <Relationship Id="rId9" Type="http://schemas.openxmlformats.org/officeDocument/2006/relationships/image" Target="../media/ppt_169c235e9341b29.jpg"/>
  <Relationship Id="rId10" Type="http://schemas.openxmlformats.org/officeDocument/2006/relationships/image" Target="../media/ppt_169c235e945f0710.jpg"/>
  <Relationship Id="rId11" Type="http://schemas.openxmlformats.org/officeDocument/2006/relationships/image" Target="../media/ppt_169c235e95c2ca11.jpg"/>
  <Relationship Id="rId12" Type="http://schemas.openxmlformats.org/officeDocument/2006/relationships/image" Target="../media/ppt_169c235e96968c12.jpg"/>
  <Relationship Id="rId13" Type="http://schemas.openxmlformats.org/officeDocument/2006/relationships/image" Target="../media/ppt_169c235e98012813.jpg"/>
  <Relationship Id="rId14" Type="http://schemas.openxmlformats.org/officeDocument/2006/relationships/image" Target="../media/ppt_169c235e995b4814.jpg"/>
  <Relationship Id="rId15" Type="http://schemas.openxmlformats.org/officeDocument/2006/relationships/image" Target="../media/ppt_169c235e99d79015.jpg"/>
  <Relationship Id="rId16" Type="http://schemas.openxmlformats.org/officeDocument/2006/relationships/image" Target="../media/ppt_169c235e9b238916.jpg"/>
  <Relationship Id="rId17" Type="http://schemas.openxmlformats.org/officeDocument/2006/relationships/image" Target="../media/ppt_169c235e9c7be217.jpg"/>
  <Relationship Id="rId18" Type="http://schemas.openxmlformats.org/officeDocument/2006/relationships/image" Target="../media/ppt_169c235e9d964818.jpg"/>
  <Relationship Id="rId19" Type="http://schemas.openxmlformats.org/officeDocument/2006/relationships/image" Target="../media/ppt_169c235e9ecc7819.jpg"/>
  <Relationship Id="rId20" Type="http://schemas.openxmlformats.org/officeDocument/2006/relationships/image" Target="../media/ppt_169c235ea0becf20.jpg"/>
  <Relationship Id="rId21" Type="http://schemas.openxmlformats.org/officeDocument/2006/relationships/hyperlink" Target="https://www.oliverinc.co.jp/products/detail?id=SCN70MACBK" TargetMode="External"/>
  <Relationship Id="rId22" Type="http://schemas.openxmlformats.org/officeDocument/2006/relationships/hyperlink" Target="https://www.oliverinc.co.jp/products/detail?id=SCN70MACBK" TargetMode="Externa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-3076575" y="190500"/>
          <a:ext cx="12477750" cy="6477000"/>
          <a:chOff x="-3076575" y="190500"/>
          <a:chExt cx="12477750" cy="6477000"/>
        </a:xfrm>
      </p:grpSpPr>
      <p:sp>
        <p:nvSpPr>
          <p:cNvPr id="2" name=""/>
          <p:cNvSpPr txBox="1"/>
          <p:nvPr/>
        </p:nvSpPr>
        <p:spPr>
          <a:xfrm>
            <a:off x="285750" y="190500"/>
            <a:ext cx="571500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000" spc="0" u="sng" cap="none">
                <a:solidFill>
                  <a:srgbClr val="333333">
                    <a:alpha val="100000"/>
                  </a:srgbClr>
                </a:solidFill>
                <a:latin typeface="Century Gothic"/>
                <a:hlinkClick r:id="rId21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<![CDATA[S・CN-70]]></a:t>
            </a:r>
          </a:p>
        </p:txBody>
      </p:sp>
      <p:sp>
        <p:nvSpPr>
          <p:cNvPr id="3" name=""/>
          <p:cNvSpPr txBox="1"/>
          <p:nvPr/>
        </p:nvSpPr>
        <p:spPr>
          <a:xfrm>
            <a:off x="285750" y="571500"/>
            <a:ext cx="857250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座り心地を追求した機能的なタスクチェアに、
インテリア性の高い繊細なカラーのファブリックを採用。
シンプルなデザインは複数並べても美しく、
シーンを選ばず幅広くご利用いただけます。]]></a:t>
            </a:r>
          </a:p>
        </p:txBody>
      </p:sp>
      <p:pic>
        <p:nvPicPr>
          <p:cNvPr id="4" name="Mark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2450" y="238125"/>
            <a:ext cx="685800" cy="171450"/>
          </a:xfrm>
          <a:prstGeom prst="rect">
            <a:avLst/>
          </a:prstGeom>
          <a:noFill/>
        </p:spPr>
      </p:pic>
      <p:pic>
        <p:nvPicPr>
          <p:cNvPr id="5" name="Mark 2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1950" y="238125"/>
            <a:ext cx="171450" cy="171450"/>
          </a:xfrm>
          <a:prstGeom prst="rect">
            <a:avLst/>
          </a:prstGeom>
          <a:noFill/>
        </p:spPr>
      </p:pic>
      <p:pic>
        <p:nvPicPr>
          <p:cNvPr id="6" name="Mark 3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1450" y="238125"/>
            <a:ext cx="171450" cy="171450"/>
          </a:xfrm>
          <a:prstGeom prst="rect">
            <a:avLst/>
          </a:prstGeom>
          <a:noFill/>
        </p:spPr>
      </p:pic>
      <p:pic>
        <p:nvPicPr>
          <p:cNvPr id="7" name="Mark 4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0950" y="238125"/>
            <a:ext cx="171450" cy="171450"/>
          </a:xfrm>
          <a:prstGeom prst="rect">
            <a:avLst/>
          </a:prstGeom>
          <a:noFill/>
        </p:spPr>
      </p:pic>
      <p:pic>
        <p:nvPicPr>
          <p:cNvPr id="8" name="Mark 5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0925" y="238125"/>
            <a:ext cx="180975" cy="171450"/>
          </a:xfrm>
          <a:prstGeom prst="rect">
            <a:avLst/>
          </a:prstGeom>
          <a:noFill/>
        </p:spPr>
      </p:pic>
      <p:pic>
        <p:nvPicPr>
          <p:cNvPr id="9" name="Mark 6" descr="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10425" y="238125"/>
            <a:ext cx="171450" cy="171450"/>
          </a:xfrm>
          <a:prstGeom prst="rect">
            <a:avLst/>
          </a:prstGeom>
          <a:noFill/>
        </p:spPr>
      </p:pic>
      <p:pic>
        <p:nvPicPr>
          <p:cNvPr id="10" name="Product Image 1" descr="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5750" y="1333500"/>
            <a:ext cx="2095500" cy="2095500"/>
          </a:xfrm>
          <a:prstGeom prst="rect">
            <a:avLst/>
          </a:prstGeom>
          <a:noFill/>
        </p:spPr>
      </p:pic>
      <p:pic>
        <p:nvPicPr>
          <p:cNvPr id="11" name="Product Image 2" descr="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28875" y="1333500"/>
            <a:ext cx="2095500" cy="1781175"/>
          </a:xfrm>
          <a:prstGeom prst="rect">
            <a:avLst/>
          </a:prstGeom>
          <a:noFill/>
        </p:spPr>
      </p:pic>
      <p:pic>
        <p:nvPicPr>
          <p:cNvPr id="12" name="Product Image 3" descr="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0" y="1333500"/>
            <a:ext cx="2095500" cy="1390650"/>
          </a:xfrm>
          <a:prstGeom prst="rect">
            <a:avLst/>
          </a:prstGeom>
          <a:noFill/>
        </p:spPr>
      </p:pic>
      <p:pic>
        <p:nvPicPr>
          <p:cNvPr id="13" name="Product Image 4" descr="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15125" y="1333500"/>
            <a:ext cx="1390650" cy="2095500"/>
          </a:xfrm>
          <a:prstGeom prst="rect">
            <a:avLst/>
          </a:prstGeom>
          <a:noFill/>
        </p:spPr>
      </p:pic>
      <p:pic>
        <p:nvPicPr>
          <p:cNvPr id="14" name="Product Image 5" descr="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1095375" y="238125"/>
            <a:ext cx="714375" cy="1047750"/>
          </a:xfrm>
          <a:prstGeom prst="rect">
            <a:avLst/>
          </a:prstGeom>
          <a:noFill/>
        </p:spPr>
      </p:pic>
      <p:pic>
        <p:nvPicPr>
          <p:cNvPr id="15" name="Product Image 6" descr="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1981200" y="238125"/>
            <a:ext cx="828675" cy="1047750"/>
          </a:xfrm>
          <a:prstGeom prst="rect">
            <a:avLst/>
          </a:prstGeom>
          <a:noFill/>
        </p:spPr>
      </p:pic>
      <p:pic>
        <p:nvPicPr>
          <p:cNvPr id="16" name="Product Image 7" descr="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3076575" y="238125"/>
            <a:ext cx="1038225" cy="561975"/>
          </a:xfrm>
          <a:prstGeom prst="rect">
            <a:avLst/>
          </a:prstGeom>
          <a:noFill/>
        </p:spPr>
      </p:pic>
      <p:sp>
        <p:nvSpPr>
          <p:cNvPr id="17" name=""/>
          <p:cNvSpPr txBox="1"/>
          <p:nvPr/>
        </p:nvSpPr>
        <p:spPr>
          <a:xfrm>
            <a:off x="285750" y="3810000"/>
            <a:ext cx="381000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anchorCtr="0" rtlCol="0" vert="horz" bIns="238125" lIns="171450" rIns="171450" tIns="238125">
            <a:no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タスクチェア（ミドルタイプ・ブラック・BK）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sng" cap="none">
                <a:solidFill>
                  <a:srgbClr val="333333">
                    <a:alpha val="100000"/>
                  </a:srgbClr>
                </a:solidFill>
                <a:latin typeface="Century Gothic"/>
                <a:hlinkClick r:id="rId22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<![CDATA[S・CN-70・M・AC・BK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/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カラーバリエーション：BK
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サイズ(mm)：W685・D710・H955～1070・SH435～550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質量：17.9kg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素材：背・座：ファブリック張り(デンマーク製)
フレーム：ナイロン（ブラック）
脚：ナイロン・60φナイロンキャスター]]></a:t>
            </a:r>
          </a:p>
        </p:txBody>
      </p:sp>
      <p:pic>
        <p:nvPicPr>
          <p:cNvPr id="18" name="Color Chip 1" descr="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6725" y="4686300"/>
            <a:ext cx="142875" cy="142875"/>
          </a:xfrm>
          <a:prstGeom prst="rect">
            <a:avLst/>
          </a:prstGeom>
          <a:noFill/>
        </p:spPr>
      </p:pic>
      <p:sp>
        <p:nvSpPr>
          <p:cNvPr id="19" name=""/>
          <p:cNvSpPr txBox="1"/>
          <p:nvPr/>
        </p:nvSpPr>
        <p:spPr>
          <a:xfrm>
            <a:off x="4191000" y="3810000"/>
            <a:ext cx="952500" cy="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600" spc="0" u="none" cap="none">
                <a:solidFill>
                  <a:srgbClr val="333333">
                    <a:alpha val="100000"/>
                  </a:srgbClr>
                </a:solidFill>
                <a:latin typeface="Century Gothic"/>
              </a:rPr>
              <a:t><![CDATA[Point]]></a:t>
            </a:r>
          </a:p>
        </p:txBody>
      </p:sp>
      <p:cxnSp>
        <p:nvCxnSpPr>
          <p:cNvPr id="20" name=""/>
          <p:cNvCxnSpPr/>
          <p:nvPr/>
        </p:nvCxnSpPr>
        <p:spPr>
          <a:xfrm>
            <a:off x="4191000" y="4095750"/>
            <a:ext cx="4667250" cy="9525"/>
          </a:xfrm>
          <a:prstGeom prst="line">
            <a:avLst/>
          </a:prstGeom>
          <a:ln w="9525" cap="flat" cmpd="sng" algn="ctr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1" name="Particular Point Image 1" descr="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91000" y="4191000"/>
            <a:ext cx="1514475" cy="1009650"/>
          </a:xfrm>
          <a:prstGeom prst="rect">
            <a:avLst/>
          </a:prstGeom>
          <a:noFill/>
        </p:spPr>
      </p:pic>
      <p:sp>
        <p:nvSpPr>
          <p:cNvPr id="22" name=""/>
          <p:cNvSpPr txBox="1"/>
          <p:nvPr/>
        </p:nvSpPr>
        <p:spPr>
          <a:xfrm>
            <a:off x="4191000" y="5295900"/>
            <a:ext cx="1524000" cy="762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シンクロロッキング機能
3段階で固定可能なシンクロロッキング機能です。]]></a:t>
            </a:r>
          </a:p>
        </p:txBody>
      </p:sp>
      <p:pic>
        <p:nvPicPr>
          <p:cNvPr id="23" name="Particular Point Image 2" descr="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62625" y="4191000"/>
            <a:ext cx="1514475" cy="1009650"/>
          </a:xfrm>
          <a:prstGeom prst="rect">
            <a:avLst/>
          </a:prstGeom>
          <a:noFill/>
        </p:spPr>
      </p:pic>
      <p:sp>
        <p:nvSpPr>
          <p:cNvPr id="24" name=""/>
          <p:cNvSpPr txBox="1"/>
          <p:nvPr/>
        </p:nvSpPr>
        <p:spPr>
          <a:xfrm>
            <a:off x="5762625" y="5295900"/>
            <a:ext cx="1524000" cy="762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ロッキング反力調整
レバーを前後に回すことでロッキング反力の強弱を調整できます。]]></a:t>
            </a:r>
          </a:p>
        </p:txBody>
      </p:sp>
      <p:pic>
        <p:nvPicPr>
          <p:cNvPr id="25" name="Particular Point Image 3" descr="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334250" y="4191000"/>
            <a:ext cx="1514475" cy="1009650"/>
          </a:xfrm>
          <a:prstGeom prst="rect">
            <a:avLst/>
          </a:prstGeom>
          <a:noFill/>
        </p:spPr>
      </p:pic>
      <p:sp>
        <p:nvSpPr>
          <p:cNvPr id="26" name=""/>
          <p:cNvSpPr txBox="1"/>
          <p:nvPr/>
        </p:nvSpPr>
        <p:spPr>
          <a:xfrm>
            <a:off x="7334250" y="5295900"/>
            <a:ext cx="1524000" cy="762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座面スライド機能・昇降機能
座面奥行を調節できる、前後スライド機能付きです。座・肘の昇降が可能です。※肘単体のスライド機能は付いておりません。]]></a:t>
            </a:r>
          </a:p>
        </p:txBody>
      </p:sp>
      <p:pic>
        <p:nvPicPr>
          <p:cNvPr id="27" name="Particular Point Image 4" descr="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34500" y="238125"/>
            <a:ext cx="1514475" cy="1009650"/>
          </a:xfrm>
          <a:prstGeom prst="rect">
            <a:avLst/>
          </a:prstGeom>
          <a:noFill/>
        </p:spPr>
      </p:pic>
      <p:sp>
        <p:nvSpPr>
          <p:cNvPr id="28" name=""/>
          <p:cNvSpPr txBox="1"/>
          <p:nvPr/>
        </p:nvSpPr>
        <p:spPr>
          <a:xfrm>
            <a:off x="9334500" y="1343025"/>
            <a:ext cx="1524000" cy="762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ランバーサポート機能
お好みの位置に調節できる、ランバーサポート付きです。]]></a:t>
            </a:r>
          </a:p>
        </p:txBody>
      </p:sp>
      <p:pic>
        <p:nvPicPr>
          <p:cNvPr id="29" name="Particular Point Image 5" descr="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953750" y="238125"/>
            <a:ext cx="1514475" cy="1009650"/>
          </a:xfrm>
          <a:prstGeom prst="rect">
            <a:avLst/>
          </a:prstGeom>
          <a:noFill/>
        </p:spPr>
      </p:pic>
      <p:sp>
        <p:nvSpPr>
          <p:cNvPr id="30" name=""/>
          <p:cNvSpPr txBox="1"/>
          <p:nvPr/>
        </p:nvSpPr>
        <p:spPr>
          <a:xfrm>
            <a:off x="10953750" y="1343025"/>
            <a:ext cx="1524000" cy="762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こだわりのファブリック
発色の美しいデンマーク製のファブリックを使用しています。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66">
  <a:themeElements>
    <a:clrScheme name="Theme6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66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6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2026-03-24T06:57:44Z</dcterms:created>
  <dcterms:modified xsi:type="dcterms:W3CDTF">2026-03-24T06:57:44Z</dcterms:modified>
  <dc:title>Untitled Presentation</dc:title>
  <dc:description/>
  <dc:subject/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